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08"/>
    <p:restoredTop sz="94694"/>
  </p:normalViewPr>
  <p:slideViewPr>
    <p:cSldViewPr snapToGrid="0">
      <p:cViewPr varScale="1">
        <p:scale>
          <a:sx n="121" d="100"/>
          <a:sy n="121" d="100"/>
        </p:scale>
        <p:origin x="80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D6B28-49C1-42B0-A4EF-698A62851B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C35E6A-5E47-987D-23E5-76F73E4B08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D85893-DC92-FF8A-4EEC-4A0AE2C87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AC2B2-5BE6-9F45-94F8-51C0BE99DC71}" type="datetimeFigureOut">
              <a:rPr lang="en-US" smtClean="0"/>
              <a:t>12/20/25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4D59BB-0FA5-4750-DE28-77FEED769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3EA1C0-5A9F-5AEF-1AEE-7E4AB397D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94049-CB36-CF42-8CE1-002E941C47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661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81DFC-BD59-D80C-7A84-EEC26CF0E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256514-5989-C6FC-D9D2-CFAB6770BE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FD3F65-F96F-E75A-F3EB-4A518FF1F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AC2B2-5BE6-9F45-94F8-51C0BE99DC71}" type="datetimeFigureOut">
              <a:rPr lang="en-US" smtClean="0"/>
              <a:t>12/20/25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0BD409-F46C-61BD-08DC-DF3A9D74B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54D683-403D-C181-C90C-73F760FBD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94049-CB36-CF42-8CE1-002E941C47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826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22A6B6-FBEF-F5E8-0075-4CFE8667C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2CA4CF-A1AA-F4FB-8A93-A443ABCED5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99160C-463B-394E-EE3F-EDE51DEBB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AC2B2-5BE6-9F45-94F8-51C0BE99DC71}" type="datetimeFigureOut">
              <a:rPr lang="en-US" smtClean="0"/>
              <a:t>12/20/25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78A044-404F-A19E-5D8F-53094FC9E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F539EF-5E66-B325-1591-F80D2607B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94049-CB36-CF42-8CE1-002E941C47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8370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56187-F718-0937-4D63-9E9DEBB2E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6C4199-8B0E-CF14-64E8-A36D41415C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ACAAF7-AAEA-11FE-6DEE-08E885023E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0E229C-E21C-AA16-E47C-681720766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AC2B2-5BE6-9F45-94F8-51C0BE99DC71}" type="datetimeFigureOut">
              <a:rPr lang="en-US" smtClean="0"/>
              <a:t>12/20/25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CCF100-3E85-2F59-7080-C977CECC7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95338E-11A8-6569-167F-C4B776F37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94049-CB36-CF42-8CE1-002E941C47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14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79A36-972B-D794-9B46-805C3D125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9AF9CB-CA6D-73C9-8C8D-1209A18BFF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79A915-6A27-1DE0-DB49-CDEC1D5517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74021C-26C5-50ED-0517-58C8891DA9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E60276-4964-4234-4674-48449DD4F2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4C2A77-07D4-6820-BE27-394D509F0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AC2B2-5BE6-9F45-94F8-51C0BE99DC71}" type="datetimeFigureOut">
              <a:rPr lang="en-US" smtClean="0"/>
              <a:t>12/20/25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337E33-D24F-A912-4F02-FD1EDA30AB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2019AC-4DD0-7C83-35FC-FE41BD7A5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94049-CB36-CF42-8CE1-002E941C47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81858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71348-8BBC-07EC-2E09-926D11A80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2070EA-750E-FF5B-9807-26CF713EE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AC2B2-5BE6-9F45-94F8-51C0BE99DC71}" type="datetimeFigureOut">
              <a:rPr lang="en-US" smtClean="0"/>
              <a:t>12/20/25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0D17D7-D427-8CDF-EF1B-A6E427535E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80F1A0-3772-2979-1B63-17A671114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94049-CB36-CF42-8CE1-002E941C47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4748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957BFB-A748-03BF-BA5C-57A1DD03B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AC2B2-5BE6-9F45-94F8-51C0BE99DC71}" type="datetimeFigureOut">
              <a:rPr lang="en-US" smtClean="0"/>
              <a:t>12/20/25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131F1D-000B-4AD6-99B5-4E20AD455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BF2464-49E0-D885-5B86-B3922BB32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94049-CB36-CF42-8CE1-002E941C47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052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5A062-E681-8230-CCBD-44FCE71DB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1CC1D9-ECC6-6DAF-14F8-1585843A59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14A335-EF65-A2C2-6357-B931D05FCA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CAAC99-5D15-8B3B-7203-9D5D100DB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AC2B2-5BE6-9F45-94F8-51C0BE99DC71}" type="datetimeFigureOut">
              <a:rPr lang="en-US" smtClean="0"/>
              <a:t>12/20/25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BE85A4-04A9-14F3-F6AF-8D7801746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5A3199-2258-157E-4D1A-488BDB84B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94049-CB36-CF42-8CE1-002E941C47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9327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A8722-C0F5-BF5A-B84A-3813DAB18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8BAA03-4C51-92D2-C16F-726135A3E2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B21FD1-F2BB-5C65-E9C0-A5EF168989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C4A02C-9620-17A7-5A1A-D9C9512520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AC2B2-5BE6-9F45-94F8-51C0BE99DC71}" type="datetimeFigureOut">
              <a:rPr lang="en-US" smtClean="0"/>
              <a:t>12/20/25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573747-4274-1B61-F613-2591B7809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932ACB-699B-9956-3094-A1DB1439F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94049-CB36-CF42-8CE1-002E941C47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2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A90B04-EABC-B872-7D0D-8B57C8886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C6C261-78BE-3DEC-3FF5-F2CF445053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349DA2-CBF4-DB4B-650C-BC9B260B7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AC2B2-5BE6-9F45-94F8-51C0BE99DC71}" type="datetimeFigureOut">
              <a:rPr lang="en-US" smtClean="0"/>
              <a:t>12/20/25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660339-3704-30B8-768E-1B5DAAD68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EAB17E-21E2-B7A6-D988-FA92A5047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94049-CB36-CF42-8CE1-002E941C47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076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90EF5A-E811-749A-BA1B-0B9BDB7DA0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51D049-CACB-EE89-3277-65813E0B6F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5800AD-80DE-58A5-18EB-E0CC08015B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AC2B2-5BE6-9F45-94F8-51C0BE99DC71}" type="datetimeFigureOut">
              <a:rPr lang="en-US" smtClean="0"/>
              <a:t>12/20/25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F36DA3-1693-3AE1-70CE-BF19A0A13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E1AA74-7356-E018-CDA6-572ACF610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A94049-CB36-CF42-8CE1-002E941C47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859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D0F7EC-68B8-6B74-22E6-2A5CC49B25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713BE2-F851-1E60-988F-D50CCFB55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2780A1-3436-691C-6C5D-B95027BB1D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3DAC2B2-5BE6-9F45-94F8-51C0BE99DC71}" type="datetimeFigureOut">
              <a:rPr lang="en-US" smtClean="0"/>
              <a:t>12/20/25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F9C37F-EEE5-A65C-ABBD-F3D32048E3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3FF34E-E5A3-22E9-DBC6-93BBF7DAC8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A94049-CB36-CF42-8CE1-002E941C47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78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853E7-5999-7432-C0F0-338305E9E97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SEMPHY01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7C60F5-58DF-BCD2-9E71-51508C63A82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RECOMBINATION AND REGENERATION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54578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41DBE-FE34-6E2C-1E84-EB9768CC4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0E70B2-6B72-20D9-5716-4635B7F242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Carrier Drift </a:t>
            </a:r>
          </a:p>
          <a:p>
            <a:r>
              <a:rPr lang="en-US" dirty="0"/>
              <a:t>Carrier Diffusion</a:t>
            </a:r>
          </a:p>
          <a:p>
            <a:r>
              <a:rPr lang="en-US" dirty="0"/>
              <a:t>Generation Recombination / Photoelectric Effect</a:t>
            </a:r>
          </a:p>
          <a:p>
            <a:pPr lvl="1"/>
            <a:r>
              <a:rPr lang="en-US" dirty="0"/>
              <a:t>Generation of holes and electrons</a:t>
            </a:r>
          </a:p>
          <a:p>
            <a:pPr lvl="1"/>
            <a:r>
              <a:rPr lang="en-US" dirty="0"/>
              <a:t>Recombination of holes with electrons</a:t>
            </a:r>
          </a:p>
        </p:txBody>
      </p:sp>
    </p:spTree>
    <p:extLst>
      <p:ext uri="{BB962C8B-B14F-4D97-AF65-F5344CB8AC3E}">
        <p14:creationId xmlns:p14="http://schemas.microsoft.com/office/powerpoint/2010/main" val="27158561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1B15A-25B7-C196-30A0-A8C85DCA0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Continuity equation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A42358-4069-5039-3765-A3E7B0C8B0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We basically to combine the overall effect of drift, diffusion, and recombination together into a single governing equation.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This governing equation is the continuity equation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42377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D01D703-F099-DC0C-0DE6-1392281D7E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0562" y="147336"/>
            <a:ext cx="6817430" cy="310904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27C7E85-DF5A-0BE0-1FE3-0085EF2EA3B6}"/>
                  </a:ext>
                </a:extLst>
              </p:cNvPr>
              <p:cNvSpPr txBox="1"/>
              <p:nvPr/>
            </p:nvSpPr>
            <p:spPr>
              <a:xfrm>
                <a:off x="1926772" y="3463117"/>
                <a:ext cx="7310534" cy="55399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endParaRPr lang="en-US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a:fld id="{825F15A7-03F4-43D7-82C5-3E23DA2F108C}" type="mathplaceholder">
                        <a:rPr lang="en-US" i="1" smtClean="0">
                          <a:latin typeface="Cambria Math" panose="02040503050406030204" pitchFamily="18" charset="0"/>
                        </a:rPr>
                        <a:t>Type equation here.</a:t>
                      </a:fl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27C7E85-DF5A-0BE0-1FE3-0085EF2EA3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6772" y="3463117"/>
                <a:ext cx="7310534" cy="553998"/>
              </a:xfrm>
              <a:prstGeom prst="rect">
                <a:avLst/>
              </a:prstGeom>
              <a:blipFill>
                <a:blip r:embed="rId3"/>
                <a:stretch>
                  <a:fillRect b="-15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73996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C96DC65-A775-CD04-D1DC-89AD527ADF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566" y="197997"/>
            <a:ext cx="5670434" cy="19723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E4345A3-891A-E1AA-873A-38CF09759A81}"/>
                  </a:ext>
                </a:extLst>
              </p:cNvPr>
              <p:cNvSpPr txBox="1"/>
              <p:nvPr/>
            </p:nvSpPr>
            <p:spPr>
              <a:xfrm>
                <a:off x="5819754" y="379182"/>
                <a:ext cx="6372246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AutoNum type="arabicParenBoth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US" dirty="0"/>
                  <a:t> The number of electrons flowing into our element at x</a:t>
                </a:r>
              </a:p>
              <a:p>
                <a:pPr marL="342900" indent="-342900">
                  <a:buAutoNum type="arabicParenBoth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: </m:t>
                    </m:r>
                  </m:oMath>
                </a14:m>
                <a:r>
                  <a:rPr lang="en-US" dirty="0"/>
                  <a:t>The number of electrons flowing out of our element at x+\Delta x</a:t>
                </a:r>
              </a:p>
              <a:p>
                <a:pPr marL="342900" indent="-342900">
                  <a:buAutoNum type="arabicParenBoth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:The rate at which electron are generated</a:t>
                </a:r>
              </a:p>
              <a:p>
                <a:pPr marL="342900" indent="-342900">
                  <a:buAutoNum type="arabicParenBoth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: The rate at which the electrons are combined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E4345A3-891A-E1AA-873A-38CF09759A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9754" y="379182"/>
                <a:ext cx="6372246" cy="1477328"/>
              </a:xfrm>
              <a:prstGeom prst="rect">
                <a:avLst/>
              </a:prstGeom>
              <a:blipFill>
                <a:blip r:embed="rId3"/>
                <a:stretch>
                  <a:fillRect l="-398" t="-1695" r="-199" b="-50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A76B3E8-39DC-35F9-4572-6A10E2581CB5}"/>
                  </a:ext>
                </a:extLst>
              </p:cNvPr>
              <p:cNvSpPr txBox="1"/>
              <p:nvPr/>
            </p:nvSpPr>
            <p:spPr>
              <a:xfrm>
                <a:off x="656253" y="2093811"/>
                <a:ext cx="10879494" cy="47641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The first we’re interested (1) + (2)</a:t>
                </a:r>
              </a:p>
              <a:p>
                <a:endParaRPr lang="en-US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𝐴𝑑𝑥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den>
                          </m:f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b="0" dirty="0"/>
              </a:p>
              <a:p>
                <a:r>
                  <a:rPr lang="en-US" dirty="0"/>
                  <a:t>Then we add the generation and recombination rates (3)+(4)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𝐴𝑑𝑥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𝐴𝑑𝑥</m:t>
                      </m:r>
                    </m:oMath>
                  </m:oMathPara>
                </a14:m>
                <a:endParaRPr lang="en-US" b="0" dirty="0"/>
              </a:p>
              <a:p>
                <a:r>
                  <a:rPr lang="en-US" dirty="0"/>
                  <a:t>So we can combine all these together as</a:t>
                </a:r>
              </a:p>
              <a:p>
                <a:pPr algn="ctr"/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𝐴𝑑𝑥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𝐽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𝐽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den>
                        </m:f>
                      </m:e>
                    </m:d>
                  </m:oMath>
                </a14:m>
                <a:r>
                  <a:rPr lang="en-US" dirty="0"/>
                  <a:t>+</a:t>
                </a:r>
                <a:r>
                  <a:rPr lang="en-US" b="0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𝐴𝑑𝑥</m:t>
                    </m:r>
                  </m:oMath>
                </a14:m>
                <a:endParaRPr lang="en-US" dirty="0"/>
              </a:p>
              <a:p>
                <a:r>
                  <a:rPr lang="en-US" dirty="0"/>
                  <a:t>Apply a </a:t>
                </a:r>
                <a:r>
                  <a:rPr lang="en-US" dirty="0" err="1"/>
                  <a:t>taylor</a:t>
                </a:r>
                <a:r>
                  <a:rPr lang="en-US" dirty="0"/>
                  <a:t> series approximate to this expression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den>
                      </m:f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+(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G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n</m:t>
                          </m:r>
                        </m:sub>
                      </m:sSub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n</m:t>
                          </m:r>
                        </m:sub>
                      </m:sSub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algn="ctr"/>
                <a:endParaRPr lang="en-US" dirty="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den>
                      </m:f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+(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G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p</m:t>
                          </m:r>
                        </m:sub>
                      </m:sSub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p</m:t>
                          </m:r>
                        </m:sub>
                      </m:sSub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pPr algn="ctr"/>
                <a:r>
                  <a:rPr lang="en-US" dirty="0"/>
                  <a:t>			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AA76B3E8-39DC-35F9-4572-6A10E2581C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253" y="2093811"/>
                <a:ext cx="10879494" cy="4764189"/>
              </a:xfrm>
              <a:prstGeom prst="rect">
                <a:avLst/>
              </a:prstGeom>
              <a:blipFill>
                <a:blip r:embed="rId4"/>
                <a:stretch>
                  <a:fillRect l="-466" t="-5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C4798414-2012-27C1-CF0A-F1225F40BC29}"/>
              </a:ext>
            </a:extLst>
          </p:cNvPr>
          <p:cNvSpPr/>
          <p:nvPr/>
        </p:nvSpPr>
        <p:spPr>
          <a:xfrm>
            <a:off x="4609322" y="5085184"/>
            <a:ext cx="2967135" cy="157481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582BC0-1E67-BDA5-EB13-A113E31F3223}"/>
              </a:ext>
            </a:extLst>
          </p:cNvPr>
          <p:cNvSpPr txBox="1"/>
          <p:nvPr/>
        </p:nvSpPr>
        <p:spPr>
          <a:xfrm>
            <a:off x="8478948" y="5503261"/>
            <a:ext cx="30634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Continuity Equation for holes</a:t>
            </a:r>
          </a:p>
          <a:p>
            <a:r>
              <a:rPr lang="en-US" dirty="0"/>
              <a:t>And electrons</a:t>
            </a:r>
          </a:p>
        </p:txBody>
      </p:sp>
    </p:spTree>
    <p:extLst>
      <p:ext uri="{BB962C8B-B14F-4D97-AF65-F5344CB8AC3E}">
        <p14:creationId xmlns:p14="http://schemas.microsoft.com/office/powerpoint/2010/main" val="2851303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3C029-F556-6D33-153A-8E7E28A16C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Continuity Equations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A657E27-452D-6074-1647-1C98B65B083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b="0" i="0" smtClean="0">
                        <a:latin typeface="Cambria Math" panose="02040503050406030204" pitchFamily="18" charset="0"/>
                      </a:rPr>
                      <m:t>+(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G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ℰ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𝑑𝑛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</m:oMath>
                </a14:m>
                <a:r>
                  <a:rPr lang="en-US" dirty="0"/>
                  <a:t> (current density equation)</a:t>
                </a:r>
              </a:p>
              <a:p>
                <a:pPr marL="0" indent="0">
                  <a:buNone/>
                </a:pPr>
                <a:r>
                  <a:rPr lang="en-US" dirty="0"/>
                  <a:t>Sze 43: (generation and recombination equation)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A657E27-452D-6074-1647-1C98B65B08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79360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B5E88-938D-CAB4-69D4-191FDCCA7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the minority carriers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544976-83B0-28D6-BE6F-7BAEB70986C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2410473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dirty="0"/>
                  <a:t> in p-type semiconductor</a:t>
                </a:r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ℰ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ℰ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𝜕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𝑝𝑜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 in </a:t>
                </a:r>
                <a:r>
                  <a:rPr lang="en-US" dirty="0" err="1"/>
                  <a:t>n_type</a:t>
                </a:r>
                <a:r>
                  <a:rPr lang="en-US" dirty="0"/>
                  <a:t> semiconductor</a:t>
                </a:r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ℰ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ℰ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𝜕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𝑝𝑜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544976-83B0-28D6-BE6F-7BAEB70986C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2410473"/>
              </a:xfrm>
              <a:blipFill>
                <a:blip r:embed="rId2"/>
                <a:stretch>
                  <a:fillRect l="-1086" t="-36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11FA14E-2600-DA9E-217C-27BB24144F68}"/>
                  </a:ext>
                </a:extLst>
              </p:cNvPr>
              <p:cNvSpPr txBox="1"/>
              <p:nvPr/>
            </p:nvSpPr>
            <p:spPr>
              <a:xfrm>
                <a:off x="1254967" y="5136503"/>
                <a:ext cx="836959" cy="5727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ℰ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𝑑𝑥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𝜖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11FA14E-2600-DA9E-217C-27BB24144F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4967" y="5136503"/>
                <a:ext cx="836959" cy="572721"/>
              </a:xfrm>
              <a:prstGeom prst="rect">
                <a:avLst/>
              </a:prstGeom>
              <a:blipFill>
                <a:blip r:embed="rId3"/>
                <a:stretch>
                  <a:fillRect l="-5970" t="-2174" r="-1493" b="-65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32BC5FC-34B5-3CE2-BD33-CC1A6D1704F3}"/>
                  </a:ext>
                </a:extLst>
              </p:cNvPr>
              <p:cNvSpPr txBox="1"/>
              <p:nvPr/>
            </p:nvSpPr>
            <p:spPr>
              <a:xfrm>
                <a:off x="2491274" y="4951837"/>
                <a:ext cx="46085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Space charge density.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32BC5FC-34B5-3CE2-BD33-CC1A6D1704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1274" y="4951837"/>
                <a:ext cx="4608569" cy="369332"/>
              </a:xfrm>
              <a:prstGeom prst="rect">
                <a:avLst/>
              </a:prstGeom>
              <a:blipFill>
                <a:blip r:embed="rId4"/>
                <a:stretch>
                  <a:fillRect l="-1099" t="-6452" b="-22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DA989669-5989-0CC4-0EF4-7B5BA41A73F0}"/>
              </a:ext>
            </a:extLst>
          </p:cNvPr>
          <p:cNvSpPr txBox="1"/>
          <p:nvPr/>
        </p:nvSpPr>
        <p:spPr>
          <a:xfrm>
            <a:off x="2491274" y="5524558"/>
            <a:ext cx="35148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Permitivity</a:t>
            </a:r>
            <a:r>
              <a:rPr lang="en-US" dirty="0"/>
              <a:t> of your semiconductor</a:t>
            </a:r>
          </a:p>
        </p:txBody>
      </p:sp>
    </p:spTree>
    <p:extLst>
      <p:ext uri="{BB962C8B-B14F-4D97-AF65-F5344CB8AC3E}">
        <p14:creationId xmlns:p14="http://schemas.microsoft.com/office/powerpoint/2010/main" val="21368958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E2E4F-E938-90FF-3F8C-C795E85F6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Cases we’re interested 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178DB9-DC80-5177-E51A-599D684147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Steady state injection from one side</a:t>
            </a:r>
          </a:p>
          <a:p>
            <a:r>
              <a:rPr lang="en-US" dirty="0"/>
              <a:t>Minority Carriers at the surface</a:t>
            </a:r>
          </a:p>
          <a:p>
            <a:r>
              <a:rPr lang="en-US" dirty="0"/>
              <a:t>Hayes-Shockley experiment</a:t>
            </a:r>
          </a:p>
        </p:txBody>
      </p:sp>
    </p:spTree>
    <p:extLst>
      <p:ext uri="{BB962C8B-B14F-4D97-AF65-F5344CB8AC3E}">
        <p14:creationId xmlns:p14="http://schemas.microsoft.com/office/powerpoint/2010/main" val="19021004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3B8BA32-091A-E4D8-63DD-8380D9F0B5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829" y="469518"/>
            <a:ext cx="5138604" cy="136807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41AC01F-02AD-9F64-01FD-7DE8EFADB6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873" y="2018381"/>
            <a:ext cx="4230610" cy="192565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185AD0E-7894-C2A4-41A4-81247BB4112F}"/>
                  </a:ext>
                </a:extLst>
              </p:cNvPr>
              <p:cNvSpPr txBox="1"/>
              <p:nvPr/>
            </p:nvSpPr>
            <p:spPr>
              <a:xfrm>
                <a:off x="5696620" y="484735"/>
                <a:ext cx="5565429" cy="401225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b="0" i="1" dirty="0">
                    <a:latin typeface="Cambria Math" panose="02040503050406030204" pitchFamily="18" charset="0"/>
                  </a:rPr>
                  <a:t>Governing equation (PDE)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𝑛𝑜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Define the boundary conditions</a:t>
                </a:r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𝑐𝑜𝑛𝑠𝑡𝑎𝑛𝑡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𝑣𝑎𝑙𝑢𝑒</m:t>
                    </m:r>
                  </m:oMath>
                </a14:m>
                <a:endParaRPr lang="en-US" b="0" dirty="0"/>
              </a:p>
              <a:p>
                <a:pPr marL="285750" indent="-285750">
                  <a:buFontTx/>
                  <a:buChar char="-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→∞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𝑛𝑜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Solution of the PDE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𝑛𝑜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𝑛𝑜</m:t>
                              </m:r>
                            </m:sub>
                          </m:sSub>
                        </m:e>
                      </m:d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𝐿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𝑃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func>
                    </m:oMath>
                  </m:oMathPara>
                </a14:m>
                <a:endParaRPr lang="en-US" b="0" dirty="0"/>
              </a:p>
              <a:p>
                <a:endParaRPr lang="en-US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r>
                  <a:rPr lang="en-US" dirty="0"/>
                  <a:t>:  diffusion length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e>
                      </m:rad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185AD0E-7894-C2A4-41A4-81247BB411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6620" y="484735"/>
                <a:ext cx="5565429" cy="4012252"/>
              </a:xfrm>
              <a:prstGeom prst="rect">
                <a:avLst/>
              </a:prstGeom>
              <a:blipFill>
                <a:blip r:embed="rId4"/>
                <a:stretch>
                  <a:fillRect l="-2506" t="-18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320051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9C7EF-D780-F670-BBE2-ABC004872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Minority Carriers at the Surface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768D80-6D18-106D-F773-76F9AD8BCD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178968"/>
            <a:ext cx="4663608" cy="150066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2DAB3E4-9FC7-2E3C-B727-CCCE777CA3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2562" y="3679634"/>
            <a:ext cx="3827061" cy="1659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1010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58F66-157D-F60A-1A14-316864FAF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Haynes-Shockley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52F3F4-1E54-9D54-F751-D8E3CBE6A30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r>
                  <a:rPr lang="en-US" dirty="0"/>
                  <a:t>Indpendently measure mobility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and diffusion coefficients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Continuity Equation and we’re interested in the situation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=0,  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ℰ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ℰ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𝑛𝑜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If there is no electric field,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𝑛𝑜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Solution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rad>
                        </m:den>
                      </m:f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b>
                                  </m:s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den>
                              </m:f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𝜏</m:t>
                                      </m:r>
                                    </m:e>
                                    <m:sub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𝑛𝑜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52F3F4-1E54-9D54-F751-D8E3CBE6A30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24" t="-26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8646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D26C6-2EF7-C93B-A652-F2E421FEE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Without an electric field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3C8FEAB-9ADA-73B1-7D27-538C128691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93467" y="1905369"/>
            <a:ext cx="9488472" cy="2654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2945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A8ACF-05E3-1AF3-DAD4-E3D850F95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With an electric field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F7EA7B3-B22A-92FA-68ED-171F4B04F2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41353" y="1944076"/>
            <a:ext cx="8346480" cy="278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2976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EC2B3-D741-C593-8D2F-0ECE30F80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Continuity Equation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57704B9-B0CA-EE64-84FD-DE68613889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26210" y="1442319"/>
            <a:ext cx="6052194" cy="2105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21537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418</Words>
  <Application>Microsoft Macintosh PowerPoint</Application>
  <PresentationFormat>Widescreen</PresentationFormat>
  <Paragraphs>72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Cambria Math</vt:lpstr>
      <vt:lpstr>Office Theme</vt:lpstr>
      <vt:lpstr>SEMPHY01</vt:lpstr>
      <vt:lpstr>Review</vt:lpstr>
      <vt:lpstr>Continuity equation </vt:lpstr>
      <vt:lpstr>PowerPoint Presentation</vt:lpstr>
      <vt:lpstr>PowerPoint Presentation</vt:lpstr>
      <vt:lpstr>Continuity Equations</vt:lpstr>
      <vt:lpstr>For the minority carriers</vt:lpstr>
      <vt:lpstr>Cases we’re interested in</vt:lpstr>
      <vt:lpstr>PowerPoint Presentation</vt:lpstr>
      <vt:lpstr>Minority Carriers at the Surface</vt:lpstr>
      <vt:lpstr>Haynes-Shockley</vt:lpstr>
      <vt:lpstr>Without an electric field</vt:lpstr>
      <vt:lpstr>With an electric field</vt:lpstr>
      <vt:lpstr>Continuity Equation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Eugene Ragasa</dc:creator>
  <cp:lastModifiedBy>Eugene Ragasa</cp:lastModifiedBy>
  <cp:revision>2</cp:revision>
  <dcterms:created xsi:type="dcterms:W3CDTF">2025-11-04T04:48:14Z</dcterms:created>
  <dcterms:modified xsi:type="dcterms:W3CDTF">2025-12-20T15:33:18Z</dcterms:modified>
</cp:coreProperties>
</file>
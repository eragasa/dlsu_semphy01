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35"/>
    <p:restoredTop sz="94689"/>
  </p:normalViewPr>
  <p:slideViewPr>
    <p:cSldViewPr snapToGrid="0">
      <p:cViewPr varScale="1">
        <p:scale>
          <a:sx n="116" d="100"/>
          <a:sy n="116" d="100"/>
        </p:scale>
        <p:origin x="192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05:48:16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5675 24575,'3'-4'0,"8"2"0,12 0 0,19 2 0,23 0 0,21 0 0,-33 0 0,3 0 0,7 0 0,1 0 0,4 0 0,2 0 0,1 0 0,0 0 0,-2 0 0,1 0 0,-1 0 0,0 0 0,-1 1 0,0 2 0,1 1 0,1 1 0,-2 3 0,-2 1 0,-3 1 0,-1 1 0,-4 0 0,-1 1 0,-6-1 0,-2 0 0,44 9 0,-9-4 0,-5-5 0,9-3 0,7-3 0,-43-2 0,2 1 0,4 0 0,1 1 0,1-1 0,0 2 0,7 0 0,2 0 0,5-1 0,1 0 0,5-2 0,1 0 0,3-1 0,1-1 0,2-1 0,0 0 0,4 0 0,1 0 0,4 0 0,2 0 0,-29 1 0,1-1 0,0-1-153,2-1 1,0 0 0,0-3 152,0-1 0,1-2 0,0-1 0,-1-2 0,-1-1 0,0-1 0,1 0 0,-1 0 0,0 1 0,-1 2 0,-1 0 0,0 3 0,31-1 0,-1 3 0,-4 3 0,-2 1 0,-9 1 0,-2 0 0,-6 0 0,-3 0 0,-8 0 0,-1 0 0,-7 0 0,-1 0 0,-3 0 0,0 0 0,1 0 0,1 0 0,1 0 0,1 0 228,4 0 1,0 0-229,5 0 0,0 0 0,-2 0 0,0 0 0,-3 0 0,-3 0 0,40 1 0,-25 2 0,-23 2 0,-17 2 0,-13-1 0,-8 0 0,-5 0 0,-3 0 0,1-2 0,13 2 0,18 4 0,25 7 0,11 5 0,-9-2 0,-18-6 0,-21-8 0,-10-4 0,2-2 0,7 0 0,10-2 0,12-3 0,8-2 0,2 0 0,1-1 0,2 1 0,4-1 0,4-1 0,5 1 0,5 1 0,2 2 0,8 2 0,3 1 0,-1 2 0,-3 0 0,-1 0 0,4 0 0,7 0 0,-42 0 0,0 0 0,1 0 0,0 0 0,-1 0 0,-2 0 0,42-2 0,-22-1 0,-20 0 0,-17 1 0,-14 0 0,-9-1 0,-7-3 0,-5-7 0,-2-6 0,-1-7 0,-4-4 0,-2-1 0,-1-5 0,2-1 0,3-1 0,2 0 0,2-9 0,0-20 0,2-30 0,0 29 0,0-5 0,0-15 0,0-4 0,0 23 0,0-2 0,0-1-190,0-5 1,0-2 0,0 0 189,-1-1 0,1 0 0,1 0 0,-1 2 0,1-1 0,1 3 0,1 6 0,1 2 0,-1 3 0,3-16 0,1 6 0,-2 21 0,1 6 0,1-11 0,-6 25 0,3-15 0,5-43 0,-2 18 0,2-10 0,-2 11 0,1-5 0,0-2-184,1-10 1,0-4-1,0 0 184,2 2 0,-1-1 0,2 1 0,-1 1 0,1-1 0,1 2 0,-1 4 0,1 2 0,1 1 0,0 8 0,0 2 0,-1 0-16,0 5 0,0 1 0,0 3 16,3-11 0,-1 7 0,8-27 0,-8 38 0,-5 28 0,-6 14 1116,-2-2-1116,-2-14 51,0-20-51,0-23 0,0-9 0,0 5 0,0 15 0,0 22 0,-2 17 0,-2 10 0,-5 2 0,-7-7 0,-6-14 0,-4-19 0,-1-18 0,2-15 0,4-11 0,6 4 0,3 13 0,5 21 0,3 24 0,4 16 0,5 14 0,4 8 0,9 8 0,11 3 0,51-1 0,-21-7 0,6 0 0,15 0 0,6 2 0,10 0 0,2 2 0,-6 1 0,-1 0 0,1 3 0,-2 0 0,-1 1 0,-2 1 0,-3 0 0,-2 1 0,-5-1 0,-1 0 0,-6-1 0,-3-1 0,-10-4 0,-3-1 0,31 4 0,-25-7 0,-17-6 0,-13-1 0,-8 0 0,0 0 0,11 0 0,21 0 0,26 0 0,15 0 0,-2 1 0,-19 2 0,-25 4 0,-19-1 0,-14 1 0,-7-1 0,-5 2 0,-3 10 0,-3 9 0,0 10 0,-3 9 0,1 17 0,1 28 0,2-30 0,0 5 0,1 16 0,0 4 0,0 10 0,0 4-190,0-28 1,0 3 0,0-2 189,0-1 0,0 0 0,0 0 0,0 0 0,0 0 0,0 0 0,0 27 0,0-2 0,0-12 0,0-2 0,0-5 0,0-3 0,0-14 0,0-3 0,0-4 0,0-2 0,0 44 0,0-1 284,1-45 0,0 1-284,1 3 0,0 1 0,1 3 0,0 1 0,0 1 0,-1-1 0,0 0 0,-1 0 0,0-2 0,0 0 0,-1-1 0,0-1 0,0-2 0,0 1 0,0-3 0,0 1 0,0-2 0,0 0 0,0 44 0,0 0 0,0 1 0,-2-2 0,-5-2 0,-6-6 0,-2-4 0,-4 7 0,0 8 0,8-44 0,0 0 0,-2 3 0,0 0 0,0-1 0,1-2 0,1-1 0,0-1 0,-6 45 0,3-9 0,3-7 0,3-13 0,1-14 0,2-16 0,2-13 0,1-7 0,2-4 0,0 2 0,0 6 0,0 7 0,0 7 0,0-1 0,0-3 0,1-3 0,1-6 0,1-7 0,3-5 0,0-7 0,1 0 0,-1-2 0,2 0 0,4 0 0,14 0 0,28 0 0,25-3 0,-28 2 0,3-1 0,6-1 0,1 0 0,0 1 0,0-1 0,0 0 0,-1 0 0,-3 0 0,1 0 0,2 0 0,1 0 0,8 0 0,2 0 0,14 0 0,2 0 0,4-1 0,0 1 0,0 0 0,-1-1 0,-6 1 0,-2-1 0,-9 2 0,-1 1 0,1-1 0,1 1 0,0 0 0,1-1 0,6 0 0,3 0 0,0-1 0,0-1 0,2 0 0,-2-1 0,-6 0 0,-1 0 0,-6 0 0,-1-1 0,4 0 0,0 0 0,4-1 0,2-2 0,14-1 0,2 0 0,-27 2 0,0 0 0,0 0 0,0 0 0,1 1 0,0 0 0,0 1 0,1 0 0,0 1 0,-2 2 0,0-1 0,0 2 0,29 0 0,-1 0 0,-3 1 0,-2 0 0,-4 1 0,-2 0 0,-4 0 0,-2 0 0,-5 0 0,0-2 0,2-1 0,0-1 0,-7-1 0,1-1 0,6 0 0,1-1 0,3-1 0,-1 0 0,-1 0 0,-2-1 0,1-2 0,-2-2 0,-13 1 0,-4-1 0,37-9 0,-33 8 0,-7 7 0,8 4 0,8 3 0,0 0 0,-13 0 0,-16 0 0,-12 0 0,-12 0 0,-9 6 0,-4 14 0,-4-9 0,-2 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05:48:32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8 191 24575,'-7'0'0,"7"0"0,4 0 0,8 0 0,3 0 0,1 0 0,6 0 0,5 0 0,12 1 0,9 2 0,7 3 0,11 2 0,12-2 0,17-2 0,-39-2 0,1 0 0,3 1 0,1 1 0,1 0 0,-1 1 0,-2 1 0,0-1 0,-4 0 0,-1-1 0,0-1 0,-1 0 0,-1-1 0,-1 1 0,2-1 0,0-1 0,3 0 0,1 1 0,0-1 0,1 1 0,0-1 0,0 1 0,-1 0 0,-1 1 0,-3 0 0,-1 0 0,47 2 0,-3 3 0,-7-2 0,-1 0 0,0-4 0,4-2 0,4 3 0,-45-2 0,1 1 0,-2-1 0,0 1 0,45 0 0,-1-2 0,-44 1 0,1-2 0,5 0 0,2 0 0,10-2 0,2-1 0,4-1 0,3 0 0,8-1 0,3-1 0,2 2 0,0 0 0,-3 0 0,0 1 0,-3 0 0,-1 0 0,-9 2 0,-1 1 0,-2-1 0,-1 1 0,-1 1 0,0 0 0,-5 0 0,0 0 0,-5 0 0,-1 0 0,-5 0 0,-1 0 0,39 0 0,-10 0 0,-5 0 0,1 0 0,7 0 0,10 0 0,-41-2 0,1-1 0,5-1 0,3-2 0,4-1 0,2-1 0,1 1 0,0-1 0,1 2 0,-1 0 0,-3 2 0,-1-1 0,-5 1 0,-1-1 0,-4 0 0,-2-1 0,38-2 0,-12 3 0,-9 0 0,2 2 0,9-2 0,7-3 0,9-3 0,-47 4 0,2 0 0,1-1 0,1-1 0,3 0 0,1 1 0,3-1 0,0 1 0,-1-1 0,0 1 0,-4 0 0,-2 1 0,32-4 0,-27 6 0,-21 2 0,-19 3 0,-8 1 0,-7 1 0,-7 0 0,-4-2 0,-5-4 0,-1-4 0,4 3 0,2-1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05:48:35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24575,'13'0'0,"6"0"0,9 0 0,5 3 0,4 5 0,0 6 0,1 4 0,6 5 0,0 4 0,3 2 0,-3 1 0,-6-3 0,-2-3 0,-7-2 0,-6-3 0,-5-2 0,-2-5 0,2-1 0,3 0 0,0-1 0,0 2 0,-5-2 0,-6-1 0,-4-1 0,-2-1 0,-2 0 0,-1 1 0,0 0 0,-2-2 0,-3 0 0,-5-1 0,-2-1 0,-5-1 0,-5-1 0,-5-2 0,-5 0 0,1 2 0,-2 4 0,-2 9 0,-3 11 0,-8 20 0,-3 9 0,-3 7 0,0-1 0,8-12 0,8-9 0,10-12 0,11-9 0,8-6 0,4-2 0,2-2 0,0 1 0,0-5 0,0 0 0,0-5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05:48:40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5577 12 24575,'-11'0'0,"-12"0"0,-11 0 0,-6 2 0,6 0 0,11 0 0,6 0 0,7-2 0,0 0 0,2 0 0,-8 0 0,-13 0 0,-23 0 0,-20 0 0,-11 0 0,4 0 0,16 0 0,11 0 0,10-1 0,1-1 0,-5-3 0,-5 0 0,-5 1 0,0 2 0,1 2 0,-6 0 0,-16 0 0,-21 0 0,38 0 0,-2 0 0,-8-1 0,-2 2 0,-4-1 0,0 1 0,-1 2 0,0 2 0,0 1 0,1 2 0,-1 1 0,1 1 0,-1 0 0,-1 0 0,0 0 0,1-1 0,1-1 0,0 1 0,2-1 0,0-1 0,1 1 0,0-1 0,1 1 0,0-1 0,5 1 0,1-1 0,5-1 0,2 0 0,6-2 0,1 0 0,-41-1 0,7-3 0,8 0 0,3 0 0,4 0 0,-1 0 0,-2 0 0,-6-3 0,-10-5 0,39 2 0,0 0 0,-4-3 0,-1 1 0,-3 0 0,0 2 0,-1 1 0,0 1 0,-1 1 0,0 1 0,-2 0 0,0 1 0,1 0 0,0-1 0,2 0 0,-1 1 0,4 0 0,1 0 0,4 1 0,2 0 0,-43 0 0,16 0 0,17 0 0,18 0 0,18 0 0,9 0 0,6-1 0,4-3 0,4 0 0,4 1 0,0 2 0,1 2 0,2 1 0,-4 0 0,2-2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05:48:42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719 0 24575,'-27'0'0,"-23"1"0,-21 5 0,23 3 0,-2 3 0,-2 4 0,0 3 0,1 3 0,1 2 0,1 1 0,2-1 0,-24 13 0,18-8 0,23-11 0,16-8 0,10-3 0,12-2 0,6 0 0,6-2 0,5 1 0,2-1 0,9 1 0,17 3 0,19 6 0,18 5 0,7 6 0,-5 2 0,-12 3 0,-14 0 0,-10-1 0,-7 3 0,-4 3 0,-3 6 0,-6 5 0,-6-1 0,-5-4 0,-6-6 0,-6-9 0,-5-5 0,-5-8 0,-6-8 0,3-2 0,-3-6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05:48:48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24575,'8'0'0,"3"0"0,11 0 0,12 0 0,10 0 0,7 0 0,1 0 0,-4 0 0,-5 0 0,-6 0 0,-7 0 0,-4 0 0,-5 0 0,2 0 0,3 2 0,9 1 0,9 1 0,5 0 0,3-1 0,1 1 0,5 1 0,-1 1 0,1 1 0,-3-3 0,-8-1 0,-4-1 0,-7-2 0,-8 0 0,-3 0 0,1 0 0,3 0 0,2 0 0,-1 0 0,-2 0 0,0 0 0,3 0 0,5 0 0,2 0 0,-1 1 0,-3 1 0,-7 0 0,-5 0 0,-3 0 0,-6 0 0,-3 1 0,0 2 0,2 0 0,7 2 0,9-1 0,4-1 0,0-1 0,-1-2 0,-4 0 0,-6 0 0,-2 1 0,-6-2 0,-3 0 0,-2-1 0,0 0 0,1 0 0,2 0 0,2 0 0,1 0 0,2 0 0,2 0 0,3 0 0,0 0 0,2 0 0,-2 0 0,-3 0 0,-1 0 0,-3 0 0,-1 0 0,2 0 0,4 0 0,4 0 0,1 0 0,-2 0 0,-4 0 0,-3 0 0,-3 0 0,-2 0 0,-3 0 0,0 0 0,3 0 0,2 0 0,2 0 0,2 0 0,-1-2 0,1 0 0,0-1 0,-2 0 0,-2 1 0,-2 0 0,-3 0 0,3 2 0,0-2 0,1 0 0,3 0 0,-2 0 0,-4 2 0,-4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05:48:51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24575,'12'0'0,"3"0"0,3 0 0,-2 0 0,-2 0 0,-3 1 0,-2 4 0,3 7 0,1 8 0,6 5 0,3 0 0,-1-3 0,-1-4 0,-6-4 0,-4-1 0,-2-1 0,0-2 0,1-1 0,-2-1 0,0 0 0,-2 2 0,-2 1 0,3-2 0,-2-3 0,1-3 0,2-2 0,2-1 0,2 1 0,3 3 0,6 2 0,10 4 0,11 4 0,7 0 0,-2 0 0,-4-3 0,-8-4 0,-8 0 0,-6-1 0,-7 0 0,-7 0 0,-6-2 0,-7-3 0,-5-1 0,-1 2 0,-1 1 0,-1 3 0,0 1 0,-3 0 0,-2-3 0,-3-1 0,-3 2 0,-2 0 0,-7 5 0,-9 9 0,-8 10 0,-5 6 0,2 6 0,6-2 0,11-3 0,8-4 0,9-8 0,10-11 0,5-9 0,4-9 0,2-9 0,0-3 0,0 0 0,0 2 0,2 6 0,1 3 0,1 2 0,0 0 0,-3-1 0,-1-3 0,0 4 0,0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05:48:53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948 0 24575,'-18'0'0,"-50"0"0,4 0 0,-32 0 0,35 0 0,18 0 0,16 0 0,-8 0 0,-7 0 0,-10 0 0,-4 0 0,10 0 0,5 0 0,5 0 0,0 1 0,4 3 0,6 1 0,8 5 0,8 2 0,6 2 0,2 0 0,0-3 0,-5-5 0,-9-3 0,-9-3 0,-4 0 0,3 0 0,7 0 0,10 0 0,7 0 0,8 0 0,-2 0 0,1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05:48:55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412 0 24575,'-13'9'0,"-3"12"0,-14 18 0,-10 18 0,-9 13 0,-8 7 0,5-7 0,10-13 0,14-19 0,10-13 0,4-8 0,0-1 0,-1 0 0,2 0 0,5-3 0,6-5 0,5-3 0,6-4 0,1-1 0,5 0 0,4 0 0,7 4 0,5 4 0,6 5 0,0 5 0,-2-1 0,1 1 0,2 4 0,9 7 0,2 7 0,-3 5 0,-12-6 0,-10-9 0,-10-10 0,-7-10 0,-7-9 0,-2 1 0,-1-4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05:48:58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1 663 24575,'33'0'0,"15"0"0,26-1 0,23-5 0,-39 0 0,3-3 0,7-2 0,1-1 0,2-3 0,2-2 0,3 0 0,2-2 0,4-2 0,1-2 0,4-1 0,0-1 0,8 0 0,2 0 0,-32 10 0,1 0 0,0 0 0,0 2 0,1 1 0,-1 0 0,1 1 0,0 0 0,-1 0 0,28-5 0,-2 0 0,0-1 0,-1 1 0,2-1 0,1 2 0,4 1 0,1 1-185,-29 5 0,1 1 0,1 0 185,0 1 0,0 0 0,1 0 0,-1 0 0,1 0 0,1 1 0,1-1 0,1 0 0,0 0 0,5-1 0,-1 1 0,2-1 0,2 1 0,0 0 0,1 0-320,1 1 1,1 0 0,0-1 319,2 1 0,-1-1 0,2 1 0,3 1 0,1 0 0,1 1-344,-21 1 0,2 0 1,-1 0-1,1 0 344,1 1 0,1 0 0,0 1 0,-1-1 0,-1 1 0,1 0 0,-2 0 0,-1 0-254,16 0 0,-3 0 1,-1 0 253,-10 1 0,-2 1 0,-3 0 234,22 3 0,-4 2-234,-14 2 0,-3 1 437,-8 1 0,-3 1-437,-9-2 0,-3 0 1420,33 8-1420,-14-5 887,-12-4-887,-10 0 0,-3-4 0,-4-1 0,2-2 0,-2-2 0,-6 0 0,-6 0 0,-13 0 0,-7-2 0,-7-2 0,-6-2 0,-5-9 0,-7-9 0,6 9 0,0-3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05:49:01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0 24575,'7'4'0,"2"-2"0,6 3 0,8 0 0,5 4 0,6 2 0,7 1 0,15 6 0,21 11 0,-30-8 0,1 2 0,5 3 0,-1 1 0,-2-1 0,-2 0 0,28 15 0,-22-11 0,-21-10 0,-15-5 0,-9-3 0,-10-3 0,-3-3 0,-6 1 0,-2 2 0,-2 2 0,-3 1 0,1-2 0,0-1 0,0-1 0,-4 1 0,-19 13 0,-24 21 0,17-11 0,-4 4 0,-10 10 0,-2 1 0,-1 1 0,1 0 0,5-4 0,4-3 0,10-10 0,5-2 0,-9 6 0,24-17 0,15-9 0,8-4 0,5-4 0,2-1 0,1 0 0,0 0 0,-1 0 0,0 0 0,-1-1 0,-2 0 0,-3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B8F79-58DA-C88F-A014-4F53724406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ABF026-4487-1FF3-C05A-907F9902F8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08631-3E57-88F6-A664-26B709808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B9D-59FE-D943-8E91-CB734DEB4C1F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03801-B2C1-890F-7C8B-5C4F0043F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1B958-9C8C-EF72-B4CA-517BA0E7E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730AF-1EAE-1648-B48C-359C37AC5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8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C9AFA-2097-5D1A-7EFF-DB232EA65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36D98-FF32-3183-C91A-425DD4EAF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6BD9D-E42B-9978-AFA1-ED5D7339F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B9D-59FE-D943-8E91-CB734DEB4C1F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A66BA-9980-421D-2C2F-6A683E014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C99B8-9D09-D35B-5BCD-2BD8ECDF9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730AF-1EAE-1648-B48C-359C37AC5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259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96561-23D3-568D-1BF2-EA9801A24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73E38-ABAC-C0DC-332C-C03252932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33356-88DD-A594-D48D-323819032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B9D-59FE-D943-8E91-CB734DEB4C1F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C433B-061D-5754-C93D-353D180CE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D7232-6A78-1023-7B1B-34FFB7D6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730AF-1EAE-1648-B48C-359C37AC5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26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70618-9EAF-EE95-6208-368D658E8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0145C-4127-3DFF-3C8E-13423F846B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7FCEC-A643-E503-3CBC-21F86581C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A063F-CBDD-5E27-24B9-A0CCB2271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B9D-59FE-D943-8E91-CB734DEB4C1F}" type="datetimeFigureOut">
              <a:rPr lang="en-US" smtClean="0"/>
              <a:t>9/5/25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29A25-1DB7-9342-1FA7-35D0BA104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39846-AD98-600E-B962-24B893226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730AF-1EAE-1648-B48C-359C37AC5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11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9F52C-E33B-614E-2A96-562A256AB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D9010-6878-B43B-E565-B98B5E4B2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FDA6A-FA17-D6DA-A534-3988519C3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458951-6177-D113-02D9-A491773A17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11F911-B6F0-CBB4-716D-CFC257AF48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FC2D08-3570-2201-9FEF-8F3C4095A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B9D-59FE-D943-8E91-CB734DEB4C1F}" type="datetimeFigureOut">
              <a:rPr lang="en-US" smtClean="0"/>
              <a:t>9/5/25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12298B-DE90-44F8-34EA-B4C04990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927B40-EFBB-76FF-9EB6-EF43EC921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730AF-1EAE-1648-B48C-359C37AC5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992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ED984-CAE2-6DDE-11D0-B82B06AEC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1EC9A6-EFF4-9766-410F-015A2EA29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B9D-59FE-D943-8E91-CB734DEB4C1F}" type="datetimeFigureOut">
              <a:rPr lang="en-US" smtClean="0"/>
              <a:t>9/5/25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CDFC7-613F-7ED5-A093-D1C2343D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65948-60C0-9026-45F2-FFE1CC197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730AF-1EAE-1648-B48C-359C37AC5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55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4FB718-A529-7D90-56B4-341ACFC00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B9D-59FE-D943-8E91-CB734DEB4C1F}" type="datetimeFigureOut">
              <a:rPr lang="en-US" smtClean="0"/>
              <a:t>9/5/25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2ED78-4189-445E-229C-99AD02F0F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F61F4-89B4-0917-A2C1-101819623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730AF-1EAE-1648-B48C-359C37AC5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495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3DDC-A25E-5458-62C5-B7590559C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D2A95-6F9B-35A5-8767-FDB4F9931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B281F7-E6A4-DF32-32DC-9F1E15F37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5993B-E197-7FDF-9EAE-75E917896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B9D-59FE-D943-8E91-CB734DEB4C1F}" type="datetimeFigureOut">
              <a:rPr lang="en-US" smtClean="0"/>
              <a:t>9/5/25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04CD2-E804-0F80-9409-591B34733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5E9DF-C800-579B-19DE-06EB4F45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730AF-1EAE-1648-B48C-359C37AC5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588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201C-B55F-291D-5678-8B6B25273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BF51CB-9201-858A-5FAC-439B71456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8652B-F3EA-430E-54AB-935E3DB36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EE4B2-457E-B7A3-8C0C-1140FDEA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B9D-59FE-D943-8E91-CB734DEB4C1F}" type="datetimeFigureOut">
              <a:rPr lang="en-US" smtClean="0"/>
              <a:t>9/5/25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E9529-2DAB-C7C7-10C3-CB86A2CD4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59D2D-9B79-A80B-49A7-4E6B49CD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730AF-1EAE-1648-B48C-359C37AC5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99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F017-1696-D105-2FB1-0BCB2107F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FADC19-7CCA-62A6-293F-0DE550F9CF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367C7-F9F6-9AB7-E6B5-299A29F6D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B9D-59FE-D943-8E91-CB734DEB4C1F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DC4B5-0808-05E6-017E-4EF00D124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D1FC1-C688-FB7B-AA74-2142B23E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730AF-1EAE-1648-B48C-359C37AC5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255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A278D2-B312-4D5E-8B56-3C54047190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CB1F17-287E-39E3-127E-E667E3206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FD879-FF8E-22B7-3A29-B788C4A6E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B9D-59FE-D943-8E91-CB734DEB4C1F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A0A87-6DB6-B9A0-E4CD-4A8D767A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72FDF-8746-E48D-92EE-7BE005954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730AF-1EAE-1648-B48C-359C37AC5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559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12CEA-77C4-A448-9B4E-8A4F2F487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370DE-F875-C007-C7BC-3464AAB76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B3D2D-7A3E-AF28-1AFD-0420F686D7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6B1B9D-59FE-D943-8E91-CB734DEB4C1F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824C-F3EE-A57F-46CB-5FEA6DD8DF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85B78-0440-7F69-1188-C25C535AC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D730AF-1EAE-1648-B48C-359C37AC5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99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5.png"/><Relationship Id="rId18" Type="http://schemas.openxmlformats.org/officeDocument/2006/relationships/customXml" Target="../ink/ink9.xml"/><Relationship Id="rId26" Type="http://schemas.openxmlformats.org/officeDocument/2006/relationships/image" Target="../media/image23.png"/><Relationship Id="rId3" Type="http://schemas.openxmlformats.org/officeDocument/2006/relationships/image" Target="../media/image10.png"/><Relationship Id="rId21" Type="http://schemas.openxmlformats.org/officeDocument/2006/relationships/image" Target="../media/image19.png"/><Relationship Id="rId7" Type="http://schemas.openxmlformats.org/officeDocument/2006/relationships/image" Target="../media/image12.png"/><Relationship Id="rId12" Type="http://schemas.openxmlformats.org/officeDocument/2006/relationships/customXml" Target="../ink/ink6.xml"/><Relationship Id="rId17" Type="http://schemas.openxmlformats.org/officeDocument/2006/relationships/image" Target="../media/image17.png"/><Relationship Id="rId25" Type="http://schemas.openxmlformats.org/officeDocument/2006/relationships/image" Target="../media/image22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4.png"/><Relationship Id="rId24" Type="http://schemas.openxmlformats.org/officeDocument/2006/relationships/image" Target="../media/image21.png"/><Relationship Id="rId5" Type="http://schemas.openxmlformats.org/officeDocument/2006/relationships/image" Target="../media/image11.png"/><Relationship Id="rId15" Type="http://schemas.openxmlformats.org/officeDocument/2006/relationships/image" Target="../media/image16.png"/><Relationship Id="rId23" Type="http://schemas.openxmlformats.org/officeDocument/2006/relationships/image" Target="../media/image20.png"/><Relationship Id="rId28" Type="http://schemas.openxmlformats.org/officeDocument/2006/relationships/image" Target="../media/image25.png"/><Relationship Id="rId10" Type="http://schemas.openxmlformats.org/officeDocument/2006/relationships/customXml" Target="../ink/ink5.xml"/><Relationship Id="rId19" Type="http://schemas.openxmlformats.org/officeDocument/2006/relationships/image" Target="../media/image18.png"/><Relationship Id="rId4" Type="http://schemas.openxmlformats.org/officeDocument/2006/relationships/customXml" Target="../ink/ink2.xml"/><Relationship Id="rId9" Type="http://schemas.openxmlformats.org/officeDocument/2006/relationships/image" Target="../media/image13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24.png"/><Relationship Id="rId30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E09B3-2F87-FDD2-D4C9-0D76F24D32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SEMPY02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F63CF-2249-236C-305D-DF89847530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M1L2: Introduction to Quantum Mechanics</a:t>
            </a:r>
          </a:p>
        </p:txBody>
      </p:sp>
    </p:spTree>
    <p:extLst>
      <p:ext uri="{BB962C8B-B14F-4D97-AF65-F5344CB8AC3E}">
        <p14:creationId xmlns:p14="http://schemas.microsoft.com/office/powerpoint/2010/main" val="3941055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C404B-7607-B216-A0FD-E2DE2EDF9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we’re going to do this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4E249-7AA8-D949-C61C-FEB1796B4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I want to kind of give you a flavor of how a research group works</a:t>
            </a:r>
          </a:p>
          <a:p>
            <a:pPr>
              <a:buFontTx/>
              <a:buChar char="-"/>
            </a:pPr>
            <a:r>
              <a:rPr lang="en-US" dirty="0"/>
              <a:t>I’m going to give lectures essential on silicon</a:t>
            </a:r>
          </a:p>
          <a:p>
            <a:pPr>
              <a:buFontTx/>
              <a:buChar char="-"/>
            </a:pPr>
            <a:r>
              <a:rPr lang="en-US" dirty="0"/>
              <a:t>You are get assign a semiconductor material</a:t>
            </a:r>
          </a:p>
          <a:p>
            <a:pPr>
              <a:buFontTx/>
              <a:buChar char="-"/>
            </a:pPr>
            <a:r>
              <a:rPr lang="en-US" dirty="0"/>
              <a:t>Tuesday of every class (prepare a slide, your material, and what you have done toward the assessment)</a:t>
            </a:r>
          </a:p>
        </p:txBody>
      </p:sp>
    </p:spTree>
    <p:extLst>
      <p:ext uri="{BB962C8B-B14F-4D97-AF65-F5344CB8AC3E}">
        <p14:creationId xmlns:p14="http://schemas.microsoft.com/office/powerpoint/2010/main" val="1103970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4D59C-C62B-216A-E400-4A4BCE54A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Semiconductors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23147-FAB8-B473-FE6E-6B96119F7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GaAs (TORRES)</a:t>
            </a:r>
          </a:p>
          <a:p>
            <a:r>
              <a:rPr lang="en-US" dirty="0" err="1"/>
              <a:t>GaN</a:t>
            </a:r>
            <a:r>
              <a:rPr lang="en-US" dirty="0"/>
              <a:t> (Tan)</a:t>
            </a:r>
          </a:p>
          <a:p>
            <a:r>
              <a:rPr lang="en-US" dirty="0" err="1"/>
              <a:t>InP</a:t>
            </a:r>
            <a:r>
              <a:rPr lang="en-US" dirty="0"/>
              <a:t> (Fernandez)</a:t>
            </a:r>
          </a:p>
          <a:p>
            <a:r>
              <a:rPr lang="en-US" dirty="0"/>
              <a:t>Ge (Samaco)</a:t>
            </a:r>
          </a:p>
          <a:p>
            <a:r>
              <a:rPr lang="en-US" dirty="0" err="1"/>
              <a:t>SiC</a:t>
            </a:r>
            <a:r>
              <a:rPr lang="en-US" dirty="0"/>
              <a:t> (Sy)</a:t>
            </a:r>
          </a:p>
          <a:p>
            <a:r>
              <a:rPr lang="en-US" dirty="0" err="1"/>
              <a:t>ZnO</a:t>
            </a:r>
            <a:r>
              <a:rPr lang="en-US" dirty="0"/>
              <a:t> (Sebastian)</a:t>
            </a:r>
          </a:p>
          <a:p>
            <a:r>
              <a:rPr lang="en-US" dirty="0" err="1"/>
              <a:t>CdTe</a:t>
            </a:r>
            <a:r>
              <a:rPr lang="en-US" dirty="0"/>
              <a:t> (Paz)</a:t>
            </a:r>
          </a:p>
          <a:p>
            <a:r>
              <a:rPr lang="en-US" dirty="0" err="1"/>
              <a:t>InAs</a:t>
            </a:r>
            <a:r>
              <a:rPr lang="en-US" dirty="0"/>
              <a:t> (Madrid)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441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662DD-8255-A666-52B1-C92450257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for 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41087-BB70-1311-EB1D-B81EFFBF8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Electron in Free Space (QM??)</a:t>
            </a:r>
          </a:p>
          <a:p>
            <a:r>
              <a:rPr lang="en-US" sz="2000" dirty="0"/>
              <a:t>Infinite Potential Well (SOLST01 review)</a:t>
            </a:r>
          </a:p>
          <a:p>
            <a:r>
              <a:rPr lang="en-US" sz="2000" dirty="0"/>
              <a:t>The Step Potential Function (QM??)</a:t>
            </a:r>
          </a:p>
          <a:p>
            <a:r>
              <a:rPr lang="en-US" sz="2000" dirty="0"/>
              <a:t>The Potential Barrier (QM??)</a:t>
            </a:r>
          </a:p>
          <a:p>
            <a:r>
              <a:rPr lang="en-US" sz="2000" dirty="0"/>
              <a:t>Free electron with PBC 1D (SOLST01 review)</a:t>
            </a:r>
          </a:p>
          <a:p>
            <a:r>
              <a:rPr lang="en-US" sz="2000" dirty="0"/>
              <a:t>Free electron with Cosine Potential 1D (SOLST01 review)</a:t>
            </a:r>
          </a:p>
          <a:p>
            <a:r>
              <a:rPr lang="en-US" sz="2000" dirty="0"/>
              <a:t>Real world bandgap diagrams (relate to high symmetry points)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02580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B6B25-31EF-39FB-CB48-56ADDDEC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8396E06-8FDD-9F8E-9E17-FBE542B1BA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314" y="1479550"/>
            <a:ext cx="9664700" cy="3898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6C2A37-1FED-B193-CDBC-3C151E7AF2D6}"/>
              </a:ext>
            </a:extLst>
          </p:cNvPr>
          <p:cNvSpPr txBox="1"/>
          <p:nvPr/>
        </p:nvSpPr>
        <p:spPr>
          <a:xfrm>
            <a:off x="1454727" y="5579918"/>
            <a:ext cx="7292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Statistical Mechanics (</a:t>
            </a:r>
            <a:r>
              <a:rPr lang="en-US" dirty="0" err="1"/>
              <a:t>Boltzman</a:t>
            </a:r>
            <a:r>
              <a:rPr lang="en-US" dirty="0"/>
              <a:t>, Fermi Dirac, and Density of States) - SY</a:t>
            </a:r>
          </a:p>
        </p:txBody>
      </p:sp>
    </p:spTree>
    <p:extLst>
      <p:ext uri="{BB962C8B-B14F-4D97-AF65-F5344CB8AC3E}">
        <p14:creationId xmlns:p14="http://schemas.microsoft.com/office/powerpoint/2010/main" val="1236936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69F0D-5A95-C6E2-2F25-26D01824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7FE66C5-2C75-F9F2-6236-EF2916BFEC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3650" y="2051844"/>
            <a:ext cx="9664700" cy="38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676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66512-C7FF-987F-F2F2-1D1F40D5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Quantization of Energy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538B6-7E40-4EC8-ED74-39BB3CEA7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Planck (1900)</a:t>
            </a:r>
          </a:p>
          <a:p>
            <a:pPr lvl="1"/>
            <a:r>
              <a:rPr lang="en-US" dirty="0"/>
              <a:t>Blackbody Radiation Problem</a:t>
            </a:r>
          </a:p>
          <a:p>
            <a:pPr lvl="1"/>
            <a:r>
              <a:rPr lang="en-US" dirty="0"/>
              <a:t>UV </a:t>
            </a:r>
            <a:r>
              <a:rPr lang="en-US" dirty="0" err="1"/>
              <a:t>Catatrophy</a:t>
            </a:r>
            <a:r>
              <a:rPr lang="en-US" dirty="0"/>
              <a:t> Effect </a:t>
            </a:r>
          </a:p>
          <a:p>
            <a:pPr lvl="1"/>
            <a:r>
              <a:rPr lang="en-US" dirty="0"/>
              <a:t>Raleigh-Jean Formula Radiation did not for Blackbody Problems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F096E5-9418-D134-D32F-B0CC8A0D8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336" y="3553028"/>
            <a:ext cx="5981700" cy="275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216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8C641-A5E4-0E18-D8C1-C5DCDF2E8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you seen the Plank’s constant solved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A9B0A-3DC4-0A6A-8596-C54032A41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Raleigh Jean Formula</a:t>
            </a:r>
          </a:p>
          <a:p>
            <a:r>
              <a:rPr lang="en-US" dirty="0"/>
              <a:t>Make the </a:t>
            </a:r>
            <a:r>
              <a:rPr lang="en-US" dirty="0" err="1"/>
              <a:t>adjust’s</a:t>
            </a:r>
            <a:r>
              <a:rPr lang="en-US" dirty="0"/>
              <a:t> Planck had</a:t>
            </a:r>
          </a:p>
          <a:p>
            <a:r>
              <a:rPr lang="en-US" dirty="0"/>
              <a:t>Solve for h?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Prof Ragasa will make a Jupiter notebook for this.</a:t>
            </a:r>
          </a:p>
        </p:txBody>
      </p:sp>
    </p:spTree>
    <p:extLst>
      <p:ext uri="{BB962C8B-B14F-4D97-AF65-F5344CB8AC3E}">
        <p14:creationId xmlns:p14="http://schemas.microsoft.com/office/powerpoint/2010/main" val="2955627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6812A-4C1E-A086-03A0-708A833D9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 Electric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E09E6-53F1-D7D4-B242-055AA0785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Einstein 1905</a:t>
            </a:r>
          </a:p>
          <a:p>
            <a:pPr lvl="1"/>
            <a:r>
              <a:rPr lang="en-US" dirty="0"/>
              <a:t>Energy of Light (EM waves)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Relates energy to wavelength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The minimum amount of energy to do this known as the work function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9CE10D-7527-9EFB-7CAD-CF375A22A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323" y="2687205"/>
            <a:ext cx="1079500" cy="444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4BCCDB-F66A-91EB-3507-25032735A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487" y="3530384"/>
            <a:ext cx="18923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858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2B869-CE1E-FEEA-060B-DA4551AD0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Function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56D701-FA12-E0BF-B77D-4357D868A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4130" y="1825625"/>
            <a:ext cx="63837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416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A8F20-86BB-D6FB-ED2D-EFB5978F8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B2ACB2-2308-EB3E-CC6B-51F445E0E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7955" y="1617807"/>
            <a:ext cx="6411854" cy="29807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E2F2C4-E5E8-82CF-6585-7D8ED9213FE9}"/>
                  </a:ext>
                </a:extLst>
              </p:cNvPr>
              <p:cNvSpPr txBox="1"/>
              <p:nvPr/>
            </p:nvSpPr>
            <p:spPr>
              <a:xfrm>
                <a:off x="1402773" y="5018809"/>
                <a:ext cx="94195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 function is related the fermi energy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r>
                  <a:rPr lang="en-US" dirty="0"/>
                  <a:t>  The Fermi energy is high occupied ground state.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E2F2C4-E5E8-82CF-6585-7D8ED9213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773" y="5018809"/>
                <a:ext cx="9419566" cy="369332"/>
              </a:xfrm>
              <a:prstGeom prst="rect">
                <a:avLst/>
              </a:prstGeom>
              <a:blipFill>
                <a:blip r:embed="rId3"/>
                <a:stretch>
                  <a:fillRect l="-538" t="-6667" r="-13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724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370FF-5646-FC9E-A3DE-14C82642D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 Particle Duality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55AEB-1485-54E6-99FE-FACA6E2D1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Wave-Particle Duality Principle (de Broglie 1924)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98253A-4C7B-386C-A3D0-8B94CC35E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809" y="2550747"/>
            <a:ext cx="7772400" cy="24838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019A7A-A1D5-D347-A77F-DE4A439FE4E4}"/>
              </a:ext>
            </a:extLst>
          </p:cNvPr>
          <p:cNvSpPr txBox="1"/>
          <p:nvPr/>
        </p:nvSpPr>
        <p:spPr>
          <a:xfrm>
            <a:off x="984593" y="5236457"/>
            <a:ext cx="917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EM waves have momentum.   So it makes sense to talk about them the KE and PE piece.</a:t>
            </a:r>
          </a:p>
        </p:txBody>
      </p:sp>
    </p:spTree>
    <p:extLst>
      <p:ext uri="{BB962C8B-B14F-4D97-AF65-F5344CB8AC3E}">
        <p14:creationId xmlns:p14="http://schemas.microsoft.com/office/powerpoint/2010/main" val="2558248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51DF7-D129-DBA3-3132-CB9EF7B95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Uncertain Principle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9F8A1B-B2C9-C976-C563-DF6FDA35C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019" y="1330487"/>
            <a:ext cx="7772400" cy="516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175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F21B1-6F28-538E-CF16-6976E39D1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Uncertain Principle in Semiconductors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6691B-917E-2D86-BDF2-CA6F3A524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US" dirty="0"/>
              <a:t>By adjusting the potentials, we enable ”electron tunneling” through a non-conductive material.  “</a:t>
            </a:r>
            <a:r>
              <a:rPr lang="en-US" dirty="0" err="1"/>
              <a:t>Probabilitistic</a:t>
            </a:r>
            <a:r>
              <a:rPr lang="en-US" dirty="0"/>
              <a:t> based conductivity.”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69D8E75-57F4-DDE4-CDB3-E08E3B7604B1}"/>
                  </a:ext>
                </a:extLst>
              </p14:cNvPr>
              <p14:cNvContentPartPr/>
              <p14:nvPr/>
            </p14:nvContentPartPr>
            <p14:xfrm>
              <a:off x="1350195" y="3921411"/>
              <a:ext cx="6693840" cy="2117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69D8E75-57F4-DDE4-CDB3-E08E3B7604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4075" y="3915291"/>
                <a:ext cx="6706080" cy="21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4AE7A14-5D4A-0FD8-7875-9DAE7B79B167}"/>
                  </a:ext>
                </a:extLst>
              </p14:cNvPr>
              <p14:cNvContentPartPr/>
              <p14:nvPr/>
            </p14:nvContentPartPr>
            <p14:xfrm>
              <a:off x="1664835" y="4584531"/>
              <a:ext cx="2853000" cy="1195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4AE7A14-5D4A-0FD8-7875-9DAE7B79B1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58715" y="4578411"/>
                <a:ext cx="286524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D5D7B3D-41BC-8E6C-DE70-9E384C4450EC}"/>
                  </a:ext>
                </a:extLst>
              </p14:cNvPr>
              <p14:cNvContentPartPr/>
              <p14:nvPr/>
            </p14:nvContentPartPr>
            <p14:xfrm>
              <a:off x="4347195" y="4454211"/>
              <a:ext cx="239760" cy="3106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D5D7B3D-41BC-8E6C-DE70-9E384C4450E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41075" y="4448091"/>
                <a:ext cx="252000" cy="32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2B028951-1451-4B30-67E9-9C09AE1EAA21}"/>
              </a:ext>
            </a:extLst>
          </p:cNvPr>
          <p:cNvGrpSpPr/>
          <p:nvPr/>
        </p:nvGrpSpPr>
        <p:grpSpPr>
          <a:xfrm>
            <a:off x="2577795" y="5275371"/>
            <a:ext cx="2143800" cy="284040"/>
            <a:chOff x="2577795" y="5275371"/>
            <a:chExt cx="2143800" cy="28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9242A0A-B455-D1CA-5650-6BD88ECF9761}"/>
                    </a:ext>
                  </a:extLst>
                </p14:cNvPr>
                <p14:cNvContentPartPr/>
                <p14:nvPr/>
              </p14:nvContentPartPr>
              <p14:xfrm>
                <a:off x="2713875" y="5322171"/>
                <a:ext cx="2007720" cy="65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9242A0A-B455-D1CA-5650-6BD88ECF976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07755" y="5316051"/>
                  <a:ext cx="20199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E0F4E47-54A2-357F-C0C9-17E7D1DB5107}"/>
                    </a:ext>
                  </a:extLst>
                </p14:cNvPr>
                <p14:cNvContentPartPr/>
                <p14:nvPr/>
              </p14:nvContentPartPr>
              <p14:xfrm>
                <a:off x="2577795" y="5275371"/>
                <a:ext cx="362520" cy="284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E0F4E47-54A2-357F-C0C9-17E7D1DB510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71675" y="5269251"/>
                  <a:ext cx="374760" cy="29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FF6A29D-438D-B302-E9F9-B913C33ACBA9}"/>
                  </a:ext>
                </a:extLst>
              </p14:cNvPr>
              <p14:cNvContentPartPr/>
              <p14:nvPr/>
            </p14:nvContentPartPr>
            <p14:xfrm>
              <a:off x="4732755" y="4931571"/>
              <a:ext cx="877680" cy="374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FF6A29D-438D-B302-E9F9-B913C33ACBA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26635" y="4925451"/>
                <a:ext cx="88992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645DBA4-F4BD-9CD5-B560-D8D15BDDADE2}"/>
                  </a:ext>
                </a:extLst>
              </p14:cNvPr>
              <p14:cNvContentPartPr/>
              <p14:nvPr/>
            </p14:nvContentPartPr>
            <p14:xfrm>
              <a:off x="5442675" y="4867491"/>
              <a:ext cx="236520" cy="2440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645DBA4-F4BD-9CD5-B560-D8D15BDDADE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436555" y="4861371"/>
                <a:ext cx="248760" cy="25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362E85EE-2035-A355-988F-88DFEF3C3B89}"/>
              </a:ext>
            </a:extLst>
          </p:cNvPr>
          <p:cNvGrpSpPr/>
          <p:nvPr/>
        </p:nvGrpSpPr>
        <p:grpSpPr>
          <a:xfrm>
            <a:off x="5241435" y="5496771"/>
            <a:ext cx="3027600" cy="304200"/>
            <a:chOff x="5241435" y="5496771"/>
            <a:chExt cx="302760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64B1E09-416C-168A-D83B-380F5F3A0512}"/>
                    </a:ext>
                  </a:extLst>
                </p14:cNvPr>
                <p14:cNvContentPartPr/>
                <p14:nvPr/>
              </p14:nvContentPartPr>
              <p14:xfrm>
                <a:off x="5296515" y="5574891"/>
                <a:ext cx="341640" cy="28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64B1E09-416C-168A-D83B-380F5F3A05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90395" y="5568771"/>
                  <a:ext cx="3538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8DC25A5-8AF6-528A-8E3E-113EBCC45E3D}"/>
                    </a:ext>
                  </a:extLst>
                </p14:cNvPr>
                <p14:cNvContentPartPr/>
                <p14:nvPr/>
              </p14:nvContentPartPr>
              <p14:xfrm>
                <a:off x="5241435" y="5496771"/>
                <a:ext cx="186480" cy="304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8DC25A5-8AF6-528A-8E3E-113EBCC45E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235315" y="5490651"/>
                  <a:ext cx="1987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EC23B7C-89DD-DD98-FBB2-1F0567F9751A}"/>
                    </a:ext>
                  </a:extLst>
                </p14:cNvPr>
                <p14:cNvContentPartPr/>
                <p14:nvPr/>
              </p14:nvContentPartPr>
              <p14:xfrm>
                <a:off x="5635275" y="5558691"/>
                <a:ext cx="2633760" cy="238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EC23B7C-89DD-DD98-FBB2-1F0567F9751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29155" y="5552571"/>
                  <a:ext cx="2646000" cy="25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440BB3C-4B37-302F-74A8-110166208FD7}"/>
                  </a:ext>
                </a:extLst>
              </p14:cNvPr>
              <p14:cNvContentPartPr/>
              <p14:nvPr/>
            </p14:nvContentPartPr>
            <p14:xfrm>
              <a:off x="8170035" y="5477331"/>
              <a:ext cx="302760" cy="3556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440BB3C-4B37-302F-74A8-110166208FD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163915" y="5471211"/>
                <a:ext cx="31500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2513749-26F6-1380-3538-038DA29917DD}"/>
                  </a:ext>
                </a:extLst>
              </p:cNvPr>
              <p:cNvSpPr txBox="1"/>
              <p:nvPr/>
            </p:nvSpPr>
            <p:spPr>
              <a:xfrm>
                <a:off x="4485988" y="3376471"/>
                <a:ext cx="4935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2513749-26F6-1380-3538-038DA2991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988" y="3376471"/>
                <a:ext cx="493533" cy="276999"/>
              </a:xfrm>
              <a:prstGeom prst="rect">
                <a:avLst/>
              </a:prstGeom>
              <a:blipFill>
                <a:blip r:embed="rId24"/>
                <a:stretch>
                  <a:fillRect l="-12500" t="-4348" r="-7500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88F1328-F3CE-0CD2-8462-95110387876B}"/>
                  </a:ext>
                </a:extLst>
              </p:cNvPr>
              <p:cNvSpPr txBox="1"/>
              <p:nvPr/>
            </p:nvSpPr>
            <p:spPr>
              <a:xfrm>
                <a:off x="5334675" y="3376470"/>
                <a:ext cx="5816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88F1328-F3CE-0CD2-8462-951103878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675" y="3376470"/>
                <a:ext cx="581698" cy="276999"/>
              </a:xfrm>
              <a:prstGeom prst="rect">
                <a:avLst/>
              </a:prstGeom>
              <a:blipFill>
                <a:blip r:embed="rId25"/>
                <a:stretch>
                  <a:fillRect l="-10638" t="-4348" r="-6383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6561966-5C97-AD5E-FF8C-CC8519C01D49}"/>
                  </a:ext>
                </a:extLst>
              </p:cNvPr>
              <p:cNvSpPr txBox="1"/>
              <p:nvPr/>
            </p:nvSpPr>
            <p:spPr>
              <a:xfrm>
                <a:off x="831203" y="4077940"/>
                <a:ext cx="7859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6561966-5C97-AD5E-FF8C-CC8519C01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03" y="4077940"/>
                <a:ext cx="785984" cy="276999"/>
              </a:xfrm>
              <a:prstGeom prst="rect">
                <a:avLst/>
              </a:prstGeom>
              <a:blipFill>
                <a:blip r:embed="rId26"/>
                <a:stretch>
                  <a:fillRect l="-6349" t="-4545" r="-9524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887923D-CF2B-5A44-6261-2F052BAC7E3A}"/>
                  </a:ext>
                </a:extLst>
              </p:cNvPr>
              <p:cNvSpPr txBox="1"/>
              <p:nvPr/>
            </p:nvSpPr>
            <p:spPr>
              <a:xfrm>
                <a:off x="4774951" y="4582392"/>
                <a:ext cx="8340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887923D-CF2B-5A44-6261-2F052BAC7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4951" y="4582392"/>
                <a:ext cx="834074" cy="276999"/>
              </a:xfrm>
              <a:prstGeom prst="rect">
                <a:avLst/>
              </a:prstGeom>
              <a:blipFill>
                <a:blip r:embed="rId27"/>
                <a:stretch>
                  <a:fillRect l="-4478" r="-10448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60D0838-A602-93EA-4CBC-6BEFCC4A1A0F}"/>
                  </a:ext>
                </a:extLst>
              </p:cNvPr>
              <p:cNvSpPr txBox="1"/>
              <p:nvPr/>
            </p:nvSpPr>
            <p:spPr>
              <a:xfrm>
                <a:off x="3732869" y="4988421"/>
                <a:ext cx="8404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60D0838-A602-93EA-4CBC-6BEFCC4A1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869" y="4988421"/>
                <a:ext cx="840486" cy="276999"/>
              </a:xfrm>
              <a:prstGeom prst="rect">
                <a:avLst/>
              </a:prstGeom>
              <a:blipFill>
                <a:blip r:embed="rId28"/>
                <a:stretch>
                  <a:fillRect l="-5970" r="-10448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D224F0F-7C75-52ED-F8BA-E60135A249D2}"/>
                  </a:ext>
                </a:extLst>
              </p:cNvPr>
              <p:cNvSpPr txBox="1"/>
              <p:nvPr/>
            </p:nvSpPr>
            <p:spPr>
              <a:xfrm>
                <a:off x="5640636" y="2754216"/>
                <a:ext cx="20005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D224F0F-7C75-52ED-F8BA-E60135A24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0636" y="2754216"/>
                <a:ext cx="2000548" cy="276999"/>
              </a:xfrm>
              <a:prstGeom prst="rect">
                <a:avLst/>
              </a:prstGeom>
              <a:blipFill>
                <a:blip r:embed="rId29"/>
                <a:stretch>
                  <a:fillRect l="-3797" t="-4348" r="-2532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9B7F10F-78A2-9CED-05AA-C12E786B3D23}"/>
                  </a:ext>
                </a:extLst>
              </p:cNvPr>
              <p:cNvSpPr txBox="1"/>
              <p:nvPr/>
            </p:nvSpPr>
            <p:spPr>
              <a:xfrm>
                <a:off x="5640636" y="2754216"/>
                <a:ext cx="20005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9B7F10F-78A2-9CED-05AA-C12E786B3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0636" y="2754216"/>
                <a:ext cx="2000548" cy="276999"/>
              </a:xfrm>
              <a:prstGeom prst="rect">
                <a:avLst/>
              </a:prstGeom>
              <a:blipFill>
                <a:blip r:embed="rId29"/>
                <a:stretch>
                  <a:fillRect l="-3797" t="-4348" r="-2532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712B67F-1BD3-9BBF-9CA8-BD1777C91F5F}"/>
                  </a:ext>
                </a:extLst>
              </p:cNvPr>
              <p:cNvSpPr txBox="1"/>
              <p:nvPr/>
            </p:nvSpPr>
            <p:spPr>
              <a:xfrm>
                <a:off x="8531552" y="5797371"/>
                <a:ext cx="5208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712B67F-1BD3-9BBF-9CA8-BD1777C91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1552" y="5797371"/>
                <a:ext cx="520848" cy="276999"/>
              </a:xfrm>
              <a:prstGeom prst="rect">
                <a:avLst/>
              </a:prstGeom>
              <a:blipFill>
                <a:blip r:embed="rId30"/>
                <a:stretch>
                  <a:fillRect l="-12195" r="-17073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1746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90B25-E96A-259F-A443-A4F604F10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 Equation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6D69DE-D98B-BAE1-C0F0-22F4F2DB0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666" y="1472568"/>
            <a:ext cx="7772400" cy="2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207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F27E0-E954-C5D4-D565-0320D1816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TDSE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284094-E395-E06D-6D2A-39974DA232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6337" y="1833343"/>
            <a:ext cx="6939326" cy="297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652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65A95-1075-68C2-BFE9-AA79131B5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Semicondtors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4E9D66-64D6-1C68-7C2F-C44B636F5B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generally use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>
                  <a:buFontTx/>
                  <a:buChar char="-"/>
                </a:pPr>
                <a:r>
                  <a:rPr lang="en-US" dirty="0"/>
                  <a:t>The potential is a function of position in semiconductors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allows for the separation of variables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4E9D66-64D6-1C68-7C2F-C44B636F5B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130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90B7E08-D103-5870-89B0-8FA89A355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8836" y="1131562"/>
            <a:ext cx="624585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40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78BAB8-7413-2DCA-D11B-F18B38364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675511"/>
            <a:ext cx="7772400" cy="150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72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EFF41-CB64-711E-F5F8-943152BEE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808EA9-FB37-C1D7-75EC-0ABD496EBA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3649" y="1825625"/>
            <a:ext cx="90447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630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8E2727-A2E6-9403-7A00-AF6F970E1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52630"/>
            <a:ext cx="7772400" cy="311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977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1BA08-B4A1-EAEA-B028-2E4433533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LHS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A7794A-7F81-2BA3-0699-DC0DFBB929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9372" y="1825625"/>
            <a:ext cx="945325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635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15D03-ECE5-1087-23CC-77B02FB18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C3EB4B-A2F6-31B6-B3B0-FF24BBF90C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29599"/>
            <a:ext cx="10515600" cy="294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355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8D978-AC01-0231-432C-0F63EB37D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Stationary States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AC6E41B-8690-0AAA-0BB2-6F70D28A22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12022"/>
            <a:ext cx="10515600" cy="397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796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9766F-80E8-4F41-8216-8761FA812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to the TISE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B91757-3DD1-8305-FDC8-090AD1D8A9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6887" y="1825625"/>
            <a:ext cx="937822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359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D01CC-3BA7-C10A-8DE5-9748A59C0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76" y="365125"/>
            <a:ext cx="11556694" cy="1325563"/>
          </a:xfrm>
        </p:spPr>
        <p:txBody>
          <a:bodyPr/>
          <a:lstStyle/>
          <a:p>
            <a:r>
              <a:rPr lang="en-US" dirty="0"/>
              <a:t>Statistical Mechanics meets Quantum Mechanics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2554DA-2CCE-4DFB-6F9B-C2BC14D80E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5676" y="1880710"/>
            <a:ext cx="8593208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06D2F6-FC8A-AD1E-61CD-7A5D74297069}"/>
              </a:ext>
            </a:extLst>
          </p:cNvPr>
          <p:cNvSpPr txBox="1"/>
          <p:nvPr/>
        </p:nvSpPr>
        <p:spPr>
          <a:xfrm>
            <a:off x="5640636" y="275421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B49433-3DE2-9C58-130E-D17B30BD73DF}"/>
                  </a:ext>
                </a:extLst>
              </p:cNvPr>
              <p:cNvSpPr txBox="1"/>
              <p:nvPr/>
            </p:nvSpPr>
            <p:spPr>
              <a:xfrm>
                <a:off x="9694843" y="2445745"/>
                <a:ext cx="1251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𝐷𝑂𝑆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B49433-3DE2-9C58-130E-D17B30BD7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4843" y="2445745"/>
                <a:ext cx="1251689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C928F0-1F3E-46E3-1506-9448361AEE95}"/>
                  </a:ext>
                </a:extLst>
              </p:cNvPr>
              <p:cNvSpPr txBox="1"/>
              <p:nvPr/>
            </p:nvSpPr>
            <p:spPr>
              <a:xfrm>
                <a:off x="9694842" y="4537113"/>
                <a:ext cx="909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𝐹𝐷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C928F0-1F3E-46E3-1506-9448361AE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4842" y="4537113"/>
                <a:ext cx="90967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4927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5765</TotalTime>
  <Words>427</Words>
  <Application>Microsoft Macintosh PowerPoint</Application>
  <PresentationFormat>Widescreen</PresentationFormat>
  <Paragraphs>76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Office Theme</vt:lpstr>
      <vt:lpstr>SEMPY02</vt:lpstr>
      <vt:lpstr>How we’re going to do this class</vt:lpstr>
      <vt:lpstr>Semiconductors</vt:lpstr>
      <vt:lpstr>Presentation for Next Class</vt:lpstr>
      <vt:lpstr>Presentations</vt:lpstr>
      <vt:lpstr>PowerPoint Presentation</vt:lpstr>
      <vt:lpstr>Quantization of Energy</vt:lpstr>
      <vt:lpstr>Have you seen the Plank’s constant solved for?</vt:lpstr>
      <vt:lpstr>Photo Electric Effect</vt:lpstr>
      <vt:lpstr>Work Function</vt:lpstr>
      <vt:lpstr>Work Function</vt:lpstr>
      <vt:lpstr>Wave Particle Duality</vt:lpstr>
      <vt:lpstr>Uncertain Principle</vt:lpstr>
      <vt:lpstr>Uncertain Principle in Semiconductors</vt:lpstr>
      <vt:lpstr>Wave Equation</vt:lpstr>
      <vt:lpstr>TDSE</vt:lpstr>
      <vt:lpstr>Semicondtors</vt:lpstr>
      <vt:lpstr>PowerPoint Presentation</vt:lpstr>
      <vt:lpstr>PowerPoint Presentation</vt:lpstr>
      <vt:lpstr>PowerPoint Presentation</vt:lpstr>
      <vt:lpstr>PowerPoint Presentation</vt:lpstr>
      <vt:lpstr>LHS</vt:lpstr>
      <vt:lpstr>PowerPoint Presentation</vt:lpstr>
      <vt:lpstr>Evolution Stationary States</vt:lpstr>
      <vt:lpstr>Solutions to the TISE</vt:lpstr>
      <vt:lpstr>Statistical Mechanics meets Quantum Mechanics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Eugene Ragasa</dc:creator>
  <cp:lastModifiedBy>Eugene Ragasa</cp:lastModifiedBy>
  <cp:revision>1</cp:revision>
  <dcterms:created xsi:type="dcterms:W3CDTF">2025-09-05T04:41:50Z</dcterms:created>
  <dcterms:modified xsi:type="dcterms:W3CDTF">2025-09-09T04:47:01Z</dcterms:modified>
</cp:coreProperties>
</file>
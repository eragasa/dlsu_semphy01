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5C72-F560-60A2-66CD-7B7A5B6C2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586C1-0F8D-A87F-5A03-10AF5F0DD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EA5EC-01E9-9B54-707F-E1511C3A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A2942-82F5-22B8-62ED-A0B19360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456CD-5481-4778-D3B7-495EDC90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1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9828-3565-D327-11EC-42CD2485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8A3B-4685-6083-91D4-411A6BD54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9457A-F391-732E-232D-5FF46A32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B2344-BF51-C294-47E7-119637EE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A675B-12A9-A6E0-C5F5-66D1F39E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0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4F90-5DD3-FC32-7A6B-1B5C6046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4C496-3FDD-DE53-4804-A12D02DFB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42BB4-F04E-63B1-F407-EDC37514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453A2-8057-C69D-72CF-4BB1D8E9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AFFDB-C275-8D01-199E-E606BA1C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9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81AA-D67E-B7FA-C8FF-ECFFEA0E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AAFB6-7C58-6ACD-95A5-CF57A5292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D7EAB-2666-0605-3EF4-D40B4193D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99906-6BEA-1476-5F22-2407EDB72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79F99-66A7-8B8E-884D-55679D64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3B2C7-C8BC-9B68-478F-72378414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7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73E8-0ADF-5D48-F3A5-40511355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074D7-6DFA-92BB-0921-7D383A7F7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1C60C-DCEC-0850-8321-3A6563288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77499-7FED-AD0D-F0BC-7FD540F6D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C167D-D516-B84D-3F8A-8A568B9FF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AE68B-0214-43E3-1C7B-FE83E8B3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E748DC-4483-EEB1-4707-6A4EB799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27B3C-05C1-93E1-97C4-86107DDD3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569A-FAA3-57C5-2639-307BD9FB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B367F-1663-F377-16C9-7F02D38BD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C97A2-996A-F3CE-906F-00501E18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181D35-811C-5EED-75D2-AE7E6ADF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2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A5FBB-3B9E-2652-4B88-C1A9BE01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18B2D-1387-F8C3-890B-86DECFCB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9B94E-4039-DBD1-A13D-397FA1C7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3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0A58-9194-EE7B-2B23-E4CE4DB0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6A62C-8989-FF65-5272-45244802F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33BF8-0B56-B942-6CD7-22354DE3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09446-98CA-65F2-EA6E-A5B40CF27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3444A-87C5-9532-E60A-A89C1CC7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7FA4B-CEDF-C005-FB84-9C32DBF3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4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0206-51CD-881D-BBB5-3A58F5DA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ED581-1868-9198-50F0-97734D924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A73BC-BE49-9E74-221E-FE91197C5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F02A3-41E0-111D-DE73-636D97335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F390E-314F-5111-F47F-55392708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9260B-6B57-71BA-C904-8B1BA302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9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A2E9-FD6E-CDF6-D502-853A8D71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FEB57-9A8D-729A-8AA4-D0B778D93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51D55-72E8-B725-D6AE-6FA3ED6A4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BC7ED-9353-38BB-1DFC-2BE03DDD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12AC3-EDF7-E271-8EAD-BDD167CD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8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1FFC5-3410-D14B-7819-7D24045C6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38F96-5E1A-BC5F-9950-F45C6B842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DC606-816D-6DAA-8868-974B8056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53E91-8C3D-75B9-23A9-DF271A42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93E11-E247-A94A-58C7-2355050D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08B8D9-49F1-E51C-3872-5170F2513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8F3FF-C0E9-8F85-F80A-CFF6A18D1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5470-57EE-F50B-09E9-571BB561B9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A6D17-6613-E14F-B886-472B51BFFCE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490D6-FDC2-49BC-E3C4-531A93CDE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9B1AF-AD64-4E55-8429-9A2A197AB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0C61D-B0F6-AF43-9906-3DE38432B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2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B91A1-A468-D63D-CD3A-8741D3934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21F1C-F5A7-2D5C-F528-4D0EFD545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Np-junctions</a:t>
            </a:r>
          </a:p>
        </p:txBody>
      </p:sp>
    </p:spTree>
    <p:extLst>
      <p:ext uri="{BB962C8B-B14F-4D97-AF65-F5344CB8AC3E}">
        <p14:creationId xmlns:p14="http://schemas.microsoft.com/office/powerpoint/2010/main" val="313736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31E9-D86C-A28F-DB4E-C8DF5A67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currently are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6FC12C-D900-1713-5398-C789855C0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0416"/>
            <a:ext cx="6131958" cy="4386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A82CAB-0C6B-B32A-4815-D769E0CDDA6B}"/>
              </a:ext>
            </a:extLst>
          </p:cNvPr>
          <p:cNvSpPr txBox="1"/>
          <p:nvPr/>
        </p:nvSpPr>
        <p:spPr>
          <a:xfrm>
            <a:off x="7667741" y="2148289"/>
            <a:ext cx="35033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Chapter 1: semiconductor</a:t>
            </a:r>
          </a:p>
          <a:p>
            <a:r>
              <a:rPr lang="en-US" dirty="0"/>
              <a:t>Chapter 2: transport properties.</a:t>
            </a:r>
          </a:p>
          <a:p>
            <a:r>
              <a:rPr lang="en-US" dirty="0"/>
              <a:t>- Calculating drift and diffusion properties under an electric field</a:t>
            </a:r>
          </a:p>
          <a:p>
            <a:pPr marL="285750" indent="-285750">
              <a:buFontTx/>
              <a:buChar char="-"/>
            </a:pPr>
            <a:r>
              <a:rPr lang="en-US" dirty="0"/>
              <a:t>Calculating current densities J.</a:t>
            </a:r>
          </a:p>
          <a:p>
            <a:pPr marL="285750" indent="-285750">
              <a:buFontTx/>
              <a:buChar char="-"/>
            </a:pPr>
            <a:r>
              <a:rPr lang="en-US" dirty="0"/>
              <a:t>Boil everything down to EM and PHYS102</a:t>
            </a:r>
          </a:p>
        </p:txBody>
      </p:sp>
    </p:spTree>
    <p:extLst>
      <p:ext uri="{BB962C8B-B14F-4D97-AF65-F5344CB8AC3E}">
        <p14:creationId xmlns:p14="http://schemas.microsoft.com/office/powerpoint/2010/main" val="259412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4DFB-1D3F-7403-77F9-9CF0757C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7D0F15-7321-944F-B603-2AEF520B7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04883"/>
            <a:ext cx="4989723" cy="4848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4B5782-5174-3AAE-AA56-CB98D64D3161}"/>
              </a:ext>
            </a:extLst>
          </p:cNvPr>
          <p:cNvSpPr txBox="1"/>
          <p:nvPr/>
        </p:nvSpPr>
        <p:spPr>
          <a:xfrm>
            <a:off x="6962660" y="2016087"/>
            <a:ext cx="192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5DE17D-DED6-D035-1947-EA052650E3D9}"/>
                  </a:ext>
                </a:extLst>
              </p:cNvPr>
              <p:cNvSpPr txBox="1"/>
              <p:nvPr/>
            </p:nvSpPr>
            <p:spPr>
              <a:xfrm>
                <a:off x="6492240" y="3028806"/>
                <a:ext cx="488927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a:fld id="{825F15A7-03F4-43D7-82C5-3E23DA2F108C}" type="mathplaceholder">
                      <a:rPr lang="en-US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r>
                  <a:rPr lang="en-US" dirty="0"/>
                  <a:t>Have approximation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The mobile carriers are </a:t>
                </a:r>
                <a:r>
                  <a:rPr lang="en-US" dirty="0" err="1"/>
                  <a:t>sweap</a:t>
                </a:r>
                <a:r>
                  <a:rPr lang="en-US" dirty="0"/>
                  <a:t> out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Ionized doners on the $n$ side and ionized acceptors on the $p$ side remain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5DE17D-DED6-D035-1947-EA052650E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3028806"/>
                <a:ext cx="4889270" cy="1200329"/>
              </a:xfrm>
              <a:prstGeom prst="rect">
                <a:avLst/>
              </a:prstGeom>
              <a:blipFill>
                <a:blip r:embed="rId3"/>
                <a:stretch>
                  <a:fillRect l="-1036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595AC7-6F09-35E9-36C1-F18A3A4801BB}"/>
                  </a:ext>
                </a:extLst>
              </p:cNvPr>
              <p:cNvSpPr txBox="1"/>
              <p:nvPr/>
            </p:nvSpPr>
            <p:spPr>
              <a:xfrm>
                <a:off x="6886100" y="4873648"/>
                <a:ext cx="2845330" cy="7799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m:rPr>
                                <m:nor/>
                                <m:brk m:alnAt="7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side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depletion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side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deplotion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595AC7-6F09-35E9-36C1-F18A3A480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100" y="4873648"/>
                <a:ext cx="2845330" cy="779957"/>
              </a:xfrm>
              <a:prstGeom prst="rect">
                <a:avLst/>
              </a:prstGeom>
              <a:blipFill>
                <a:blip r:embed="rId4"/>
                <a:stretch>
                  <a:fillRect l="-1778" t="-4839" r="-2222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44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7BC3-B023-33BB-7021-0AE01761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Equilibrium Fermi Levels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B2B31-DC53-F65C-D0AB-731938CB1B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Drift and diffusion components</a:t>
                </a:r>
              </a:p>
              <a:p>
                <a:pPr lvl="1"/>
                <a:r>
                  <a:rPr lang="en-US" dirty="0"/>
                  <a:t>Apply carrier concentration to this equation</a:t>
                </a:r>
              </a:p>
              <a:p>
                <a:pPr lvl="1"/>
                <a:r>
                  <a:rPr lang="en-US" b="0" dirty="0"/>
                  <a:t>The derivative of carrier concentration.</a:t>
                </a:r>
              </a:p>
              <a:p>
                <a:r>
                  <a:rPr lang="en-US" dirty="0"/>
                  <a:t>Poisson </a:t>
                </a:r>
                <a:r>
                  <a:rPr lang="en-US" dirty="0" err="1"/>
                  <a:t>Eqution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the electrostatic potential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is the charge density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this permittivity of the semiconductor</a:t>
                </a:r>
              </a:p>
              <a:p>
                <a:pPr>
                  <a:buFontTx/>
                  <a:buChar char="-"/>
                </a:pPr>
                <a:endParaRPr lang="en-US" dirty="0"/>
              </a:p>
              <a:p>
                <a:pPr>
                  <a:buFontTx/>
                  <a:buChar char="-"/>
                </a:pPr>
                <a:endParaRPr lang="en-US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B2B31-DC53-F65C-D0AB-731938CB1B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453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07F803-7BCF-A8BF-47C2-D47C8F79A67B}"/>
                  </a:ext>
                </a:extLst>
              </p:cNvPr>
              <p:cNvSpPr txBox="1"/>
              <p:nvPr/>
            </p:nvSpPr>
            <p:spPr>
              <a:xfrm>
                <a:off x="8508470" y="3806848"/>
                <a:ext cx="2845330" cy="7799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m:rPr>
                                <m:nor/>
                                <m:brk m:alnAt="7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side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depletion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side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deplotion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07F803-7BCF-A8BF-47C2-D47C8F79A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470" y="3806848"/>
                <a:ext cx="2845330" cy="779957"/>
              </a:xfrm>
              <a:prstGeom prst="rect">
                <a:avLst/>
              </a:prstGeom>
              <a:blipFill>
                <a:blip r:embed="rId3"/>
                <a:stretch>
                  <a:fillRect l="-1778" t="-4839" r="-2667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44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DC3F-EEF9-9256-9377-DC005EDA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 the electric field to get the potential drop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57788-F139-95FF-B933-5C45BC9849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3532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Build in potential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b="0" dirty="0"/>
              </a:p>
              <a:p>
                <a:r>
                  <a:rPr lang="en-US" dirty="0"/>
                  <a:t>Calculate over each region separately.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+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57788-F139-95FF-B933-5C45BC984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35320" cy="4351338"/>
              </a:xfrm>
              <a:blipFill>
                <a:blip r:embed="rId2"/>
                <a:stretch>
                  <a:fillRect l="-1991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C36D78-A625-C7F8-3E0E-57F8F150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319" y="1418803"/>
            <a:ext cx="4989723" cy="484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63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33458-4CB1-32E0-5B87-5BAAB93BB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charge neutrality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37D607-2DB7-650F-0B3E-7B6D8E158E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+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Width of the depletion region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𝑏𝑖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37D607-2DB7-650F-0B3E-7B6D8E158E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21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18AB-785B-5907-AE1D-90D1FDE16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this to thermodynamics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C198C-0975-18B6-434C-0211179C6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45084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Single fermi level at </a:t>
                </a:r>
                <a:r>
                  <a:rPr lang="en-US" sz="1600" dirty="0" err="1"/>
                  <a:t>equilbium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Continuity of the chemical potential</a:t>
                </a:r>
              </a:p>
              <a:p>
                <a:pPr marL="0" indent="0">
                  <a:buNone/>
                </a:pPr>
                <a:r>
                  <a:rPr lang="en-US" sz="1600" dirty="0" err="1"/>
                  <a:t>Boltzman</a:t>
                </a:r>
                <a:r>
                  <a:rPr lang="en-US" sz="1600" dirty="0"/>
                  <a:t> carrier </a:t>
                </a:r>
                <a:r>
                  <a:rPr lang="en-US" sz="1600" dirty="0" err="1"/>
                  <a:t>statisitcs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We have </a:t>
                </a:r>
                <a:r>
                  <a:rPr lang="en-US" sz="1600" dirty="0" err="1"/>
                  <a:t>poisson</a:t>
                </a:r>
                <a:r>
                  <a:rPr lang="en-US" sz="1600" dirty="0"/>
                  <a:t> based expression, and fermi level based expression</a:t>
                </a:r>
              </a:p>
              <a:p>
                <a:pPr>
                  <a:buFontTx/>
                  <a:buChar char="-"/>
                </a:pPr>
                <a:r>
                  <a:rPr lang="en-US" sz="1600" dirty="0"/>
                  <a:t>Poisson side: field + charge in the </a:t>
                </a:r>
                <a:r>
                  <a:rPr lang="en-US" sz="1600" dirty="0" err="1"/>
                  <a:t>deplution</a:t>
                </a:r>
                <a:r>
                  <a:rPr lang="en-US" sz="1600" dirty="0"/>
                  <a:t> region</a:t>
                </a:r>
              </a:p>
              <a:p>
                <a:pPr>
                  <a:buFontTx/>
                  <a:buChar char="-"/>
                </a:pPr>
                <a:r>
                  <a:rPr lang="en-US" sz="1600" dirty="0"/>
                  <a:t>Fermi side: carrier concentration imbalance + diffusion potential</a:t>
                </a:r>
              </a:p>
              <a:p>
                <a:pPr>
                  <a:buFontTx/>
                  <a:buChar char="-"/>
                </a:pPr>
                <a:endParaRPr lang="en-US" sz="1600" dirty="0"/>
              </a:p>
              <a:p>
                <a:pPr>
                  <a:buFontTx/>
                  <a:buChar char="-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C198C-0975-18B6-434C-0211179C6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450840" cy="4351338"/>
              </a:xfrm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52A0C8B-11FF-FEAD-237A-800C0DD3AFFC}"/>
              </a:ext>
            </a:extLst>
          </p:cNvPr>
          <p:cNvSpPr txBox="1"/>
          <p:nvPr/>
        </p:nvSpPr>
        <p:spPr>
          <a:xfrm>
            <a:off x="7315201" y="2255520"/>
            <a:ext cx="41351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built in potential is the potential barrier that present further diffusion of majority carriers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Balance diffusion (carrier concentration gradient)</a:t>
            </a:r>
          </a:p>
          <a:p>
            <a:pPr marL="285750" indent="-285750">
              <a:buFontTx/>
              <a:buChar char="-"/>
            </a:pPr>
            <a:r>
              <a:rPr lang="en-US" dirty="0"/>
              <a:t>Drift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At equilibrium</a:t>
            </a:r>
          </a:p>
          <a:p>
            <a:r>
              <a:rPr lang="en-US" dirty="0"/>
              <a:t>Drift current + diffusion current =0</a:t>
            </a:r>
          </a:p>
        </p:txBody>
      </p:sp>
    </p:spTree>
    <p:extLst>
      <p:ext uri="{BB962C8B-B14F-4D97-AF65-F5344CB8AC3E}">
        <p14:creationId xmlns:p14="http://schemas.microsoft.com/office/powerpoint/2010/main" val="92863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1801-99C4-4375-A01D-A2B79954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Electric Fields (forward bias)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7D25EE-CE60-63F4-8472-418D4646B9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Apply a forward bias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P-terminal +V/2</a:t>
                </a:r>
              </a:p>
              <a:p>
                <a:pPr lvl="1"/>
                <a:r>
                  <a:rPr lang="en-US" dirty="0"/>
                  <a:t>N-terminal –v/2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Poisson equation is still going to be the same.</a:t>
                </a:r>
              </a:p>
              <a:p>
                <a:r>
                  <a:rPr lang="en-US" dirty="0"/>
                  <a:t>But what are the boundary condition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Leads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𝑑𝑟𝑜𝑝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7D25EE-CE60-63F4-8472-418D4646B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23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9224-B01D-F23B-4031-291651DB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 the </a:t>
            </a:r>
            <a:r>
              <a:rPr lang="en-US" dirty="0" err="1"/>
              <a:t>poisson</a:t>
            </a:r>
            <a:r>
              <a:rPr lang="en-US" dirty="0"/>
              <a:t>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A8848-D2CC-44F8-74B9-C22CB66418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P-side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),0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N-side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 err="1"/>
                  <a:t>Integetrade</a:t>
                </a:r>
                <a:r>
                  <a:rPr lang="en-US" dirty="0"/>
                  <a:t> the electric fields to get voltages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=∫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=∫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𝑑𝑒𝑝𝑙𝑒𝑡𝑖𝑜𝑛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5A8848-D2CC-44F8-74B9-C22CB6641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48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C256D-7148-E88F-EB1C-07F87F28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charge neutrality condition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C42CFE-B9C2-185C-4E6E-EDFEC0A6E6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Forward bias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V increases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-&gt; </a:t>
                </a:r>
                <a:r>
                  <a:rPr lang="en-US" dirty="0" err="1"/>
                  <a:t>V_bi</a:t>
                </a:r>
                <a:r>
                  <a:rPr lang="en-US" dirty="0"/>
                  <a:t>-V gets smaller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-&gt; W(v) gets smaller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-&gt; </a:t>
                </a:r>
                <a:r>
                  <a:rPr lang="en-US" dirty="0" err="1"/>
                  <a:t>E_max</a:t>
                </a:r>
                <a:r>
                  <a:rPr lang="en-US" dirty="0"/>
                  <a:t> decreases and the barrier reduced</a:t>
                </a:r>
              </a:p>
              <a:p>
                <a:pPr>
                  <a:buFontTx/>
                  <a:buChar char="-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C42CFE-B9C2-185C-4E6E-EDFEC0A6E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914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41F9B-67BA-847A-4701-2BE3E1B8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piece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D941F8-9E9C-1082-384D-0BC4A6861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𝑞𝑉</m:t>
                    </m:r>
                  </m:oMath>
                </a14:m>
                <a:r>
                  <a:rPr lang="en-US" b="0" dirty="0"/>
                  <a:t> (quasi fermi levels)</a:t>
                </a:r>
              </a:p>
              <a:p>
                <a:r>
                  <a:rPr lang="en-US" dirty="0"/>
                  <a:t>Minority charrier densities at the side of each depletion charges</a:t>
                </a:r>
              </a:p>
              <a:p>
                <a:r>
                  <a:rPr lang="en-US" b="0" dirty="0"/>
                  <a:t>Excess minority carriers diffusion into ”</a:t>
                </a:r>
                <a:r>
                  <a:rPr lang="en-US" b="0" dirty="0" err="1"/>
                  <a:t>netural</a:t>
                </a:r>
                <a:r>
                  <a:rPr lang="en-US" b="0" dirty="0"/>
                  <a:t>” region and recombine to create diffusion current.</a:t>
                </a:r>
              </a:p>
              <a:p>
                <a:endParaRPr lang="en-US" dirty="0"/>
              </a:p>
              <a:p>
                <a:r>
                  <a:rPr lang="en-US" dirty="0"/>
                  <a:t>DIODE Equation: combining </a:t>
                </a:r>
                <a:r>
                  <a:rPr lang="en-US" dirty="0" err="1"/>
                  <a:t>poisson</a:t>
                </a:r>
                <a:r>
                  <a:rPr lang="en-US" dirty="0"/>
                  <a:t> equation + continuity equation from Ch2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𝑞𝑉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D941F8-9E9C-1082-384D-0BC4A6861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740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09F7-5B42-1706-063B-FC7D4ABB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effective resistance of a p-n junction changes under forward/backward biases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F17CAA-96DD-3307-2FAA-EA68E7FBF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Linear resistor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For a </a:t>
                </a:r>
                <a:r>
                  <a:rPr lang="en-US" b="0"/>
                  <a:t>diode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𝑞𝑉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F17CAA-96DD-3307-2FAA-EA68E7FBF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49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549</Words>
  <Application>Microsoft Macintosh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SEMPY</vt:lpstr>
      <vt:lpstr>Where we currently are</vt:lpstr>
      <vt:lpstr>n-p</vt:lpstr>
      <vt:lpstr>Equilibrium Fermi Levels</vt:lpstr>
      <vt:lpstr>Integrate the electric field to get the potential drop</vt:lpstr>
      <vt:lpstr>Apply charge neutrality</vt:lpstr>
      <vt:lpstr>Connect this to thermodynamics </vt:lpstr>
      <vt:lpstr>Application of Electric Fields (forward bias)</vt:lpstr>
      <vt:lpstr>Integrate the poisson equation</vt:lpstr>
      <vt:lpstr>Apply charge neutrality condition</vt:lpstr>
      <vt:lpstr>Transport piece</vt:lpstr>
      <vt:lpstr>The effective resistance of a p-n junction changes under forward/backward biases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Ragasa</dc:creator>
  <cp:lastModifiedBy>Eugene Ragasa</cp:lastModifiedBy>
  <cp:revision>2</cp:revision>
  <dcterms:created xsi:type="dcterms:W3CDTF">2025-11-25T04:46:59Z</dcterms:created>
  <dcterms:modified xsi:type="dcterms:W3CDTF">2025-12-20T15:33:54Z</dcterms:modified>
</cp:coreProperties>
</file>
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2" r:id="rId8"/>
    <p:sldId id="261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72"/>
  </p:normalViewPr>
  <p:slideViewPr>
    <p:cSldViewPr snapToGrid="0">
      <p:cViewPr varScale="1">
        <p:scale>
          <a:sx n="124" d="100"/>
          <a:sy n="124" d="100"/>
        </p:scale>
        <p:origin x="10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1:29.8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24575,'10'0'0,"13"0"0,30-3 0,25-2 0,6 0 0,-16 0 0,-29 3 0,-21 2 0,-5 0 0,-3 0 0,-3 0 0,1 0 0,4 0 0,3 0 0,2 0 0,-3 0 0,-3 0 0,-3 1 0,-3 0 0,0 3 0,-3-2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1:3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24575,'0'10'0,"0"6"0,2 4 0,3 3 0,3 1 0,2 0 0,1 4 0,1 1 0,0 4 0,0 0 0,1 3 0,-1 0 0,1-3 0,-3-7 0,-3-8 0,-3-5 0,-2-4 0,0-4 0,0 2 0,0 1 0,1 3 0,0 6 0,1 7 0,1 10 0,0 2 0,1-2 0,0-9 0,-4-13 0,1-4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1:33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24575,'2'0'0,"6"0"0,11 0 0,8 0-2126,4 0 0,-12 0 0,-5 0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1:35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12 24575,'13'0'0,"6"0"0,17 0 0,12 4 0,14 2 0,-1 3 0,-5 0 0,-9-3 0,-13-1 0,-7-3 0,-8 0 0,-4-2 0,0 0 0,-1 0 0,-3 2 0,-6 0 0,-9-1 0,-9-2 0,-7-1 0,-5 0 0,-4-1 0,-1-1 0,-3-2 0,-1-2 0,-3 2 0,-12 2 0,-13 2 0,-6 2 0,-1 0 0,13 0 0,12 0 0,12-1 0,11-1 0,7-2 0,5 0 0,1 0 0,2 1 0,-3 1 0,-11 0 0,-14 2 0,-10 5 0,-3 3 0,9 3 0,13 0 0,13-6 0,10-3 0,8-2 0,1 1 0,2 2 0,0 2 0,-4-2 0,-2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1:38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24575,'0'24'0,"0"7"0,0 24 0,0 18 0,0 10 0,0 8 0,0-4 0,0-14 0,0-18 0,0-21 0,0-15 0,1-8 0,1-4 0,2-3 0,1-1 0,1 0 0,-1-1 0,-1 1 0,1-1 0,1 0 0,-2 1 0,2-1 0,0 1 0,1 3 0,5 7 0,2 7 0,2 10 0,-2 9 0,-2 3 0,-3-1 0,-3-9 0,-3-11 0,-1-11 0,-2-9 0,-5-8 0,-5-10 0,-3-4 0,-1-3 0,2 2 0,2 0 0,2 1 0,0-3 0,2-5 0,0 0 0,0-1 0,0 3 0,0 3 0,1 0 0,1 2 0,2-4 0,-1-1 0,1-1 0,-1 2 0,2 4 0,1 5 0,0 6 0,0 0 0,0 2 0,0 0 0,0 0 0,0 0 0,0-1 0,0 0 0,0 3 0,0 3 0,0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4:10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24575,'10'0'0,"13"0"0,30-3 0,25-2 0,6 0 0,-16 0 0,-29 3 0,-21 2 0,-5 0 0,-3 0 0,-3 0 0,1 0 0,4 0 0,3 0 0,2 0 0,-3 0 0,-3 0 0,-3 1 0,-3 0 0,0 3 0,-3-2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4:10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24575,'0'10'0,"0"6"0,2 4 0,3 3 0,3 1 0,2 0 0,1 4 0,1 1 0,0 4 0,0 0 0,1 3 0,-1 0 0,1-3 0,-3-7 0,-3-8 0,-3-5 0,-2-4 0,0-4 0,0 2 0,0 1 0,1 3 0,0 6 0,1 7 0,1 10 0,0 2 0,1-2 0,0-9 0,-4-13 0,1-4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4:10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24575,'2'0'0,"6"0"0,11 0 0,8 0-2126,4 0 0,-12 0 0,-5 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4:1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12 24575,'13'0'0,"6"0"0,17 0 0,12 4 0,14 2 0,-1 3 0,-5 0 0,-9-3 0,-13-1 0,-7-3 0,-8 0 0,-4-2 0,0 0 0,-1 0 0,-3 2 0,-6 0 0,-9-1 0,-9-2 0,-7-1 0,-5 0 0,-4-1 0,-1-1 0,-3-2 0,-1-2 0,-3 2 0,-12 2 0,-13 2 0,-6 2 0,-1 0 0,13 0 0,12 0 0,12-1 0,11-1 0,7-2 0,5 0 0,1 0 0,2 1 0,-3 1 0,-11 0 0,-14 2 0,-10 5 0,-3 3 0,9 3 0,13 0 0,13-6 0,10-3 0,8-2 0,1 1 0,2 2 0,0 2 0,-4-2 0,-2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4:10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24575,'0'24'0,"0"7"0,0 24 0,0 18 0,0 10 0,0 8 0,0-4 0,0-14 0,0-18 0,0-21 0,0-15 0,1-8 0,1-4 0,2-3 0,1-1 0,1 0 0,-1-1 0,-1 1 0,1-1 0,1 0 0,-2 1 0,2-1 0,0 1 0,1 3 0,5 7 0,2 7 0,2 10 0,-2 9 0,-2 3 0,-3-1 0,-3-9 0,-3-11 0,-1-11 0,-2-9 0,-5-8 0,-5-10 0,-3-4 0,-1-3 0,2 2 0,2 0 0,2 1 0,0-3 0,2-5 0,0 0 0,0-1 0,0 3 0,0 3 0,1 0 0,1 2 0,2-4 0,-1-1 0,1-1 0,-1 2 0,2 4 0,1 5 0,0 6 0,0 0 0,0 2 0,0 0 0,0 0 0,0 0 0,0-1 0,0 0 0,0 3 0,0 3 0,0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9:27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24575,'10'0'0,"13"0"0,30-2 0,25-3 0,6-1 0,-16 1 0,-29 3 0,-21 2 0,-5 0 0,-3 0 0,-3 0 0,1 0 0,4 0 0,3 0 0,2 0 0,-3 0 0,-3 0 0,-3 1 0,-3 1 0,0 1 0,-3-1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9:27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24575,'0'10'0,"0"6"0,2 4 0,3 4 0,3-1 0,2 1 0,1 4 0,1 1 0,0 4 0,0 0 0,1 3 0,-1 1 0,1-5 0,-3-5 0,-3-9 0,-3-5 0,-2-5 0,0-3 0,0 2 0,0 2 0,1 1 0,0 7 0,1 8 0,1 8 0,0 4 0,1-4 0,0-7 0,-4-14 0,1-4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19:27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24575,'0'23'0,"0"9"0,0 22 0,0 19 0,0 10 0,0 9 0,0-6 0,0-13 0,0-18 0,0-20 0,0-16 0,1-8 0,1-4 0,2-3 0,1-1 0,1-1 0,-1 1 0,-1-1 0,1 0 0,1 0 0,-2 1 0,2-1 0,0 1 0,1 4 0,5 6 0,2 6 0,2 11 0,-2 10 0,-2 2 0,-3-1 0,-3-10 0,-3-10 0,-1-11 0,-2-8 0,-5-10 0,-5-8 0,-3-5 0,-1-3 0,2 1 0,2 2 0,2-1 0,0-2 0,2-4 0,0-1 0,0-2 0,0 5 0,0 1 0,1 2 0,1 1 0,2-4 0,-1-1 0,1-2 0,-1 3 0,2 5 0,1 4 0,0 5 0,0 2 0,0 0 0,0 1 0,0 0 0,0 1 0,0-3 0,0 1 0,0 4 0,0 2 0,0 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21:24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0 324 24575,'10'-14'0,"0"2"0,3 1 0,0 2 0,6-6 0,6-8 0,6-4 0,3-4 0,-5 7 0,-7 9 0,-7 7 0,-3 6 0,3 2 0,7-3 0,9-4 0,0-3 0,-4-1 0,-10 0 0,-7 2 0,-4 1 0,-1 4 0,2-1 0,13-3 0,19-3 0,20-3 0,15 2 0,0 4 0,-14 2 0,-18 3 0,-16 1 0,-11 2 0,1 0 0,3 0 0,5 0 0,4 0 0,-4 0 0,-4 0 0,0 3 0,6 8 0,8 12 0,8 9 0,-2 4 0,-7 0 0,-10-5 0,-5-1 0,-1 3 0,0 0 0,-1-2 0,-6-4 0,-4-4 0,-4-4 0,-2-1 0,0-2 0,0 0 0,-3 6 0,-5 11 0,-5 14 0,-3 11 0,-1 5 0,0 2 0,-1-6 0,-1-6 0,3-10 0,3-12 0,2-9 0,2-6 0,-5-3 0,-7 4 0,-5 5 0,-2 3 0,-1 3 0,0 7 0,-3 5 0,0 4 0,1 0 0,8-10 0,6-10 0,4-9 0,1-8 0,-3-7 0,-9-9 0,-19-6 0,-22-8 0,-13-6 0,1 2 0,15 3 0,21 5 0,15 6 0,11 3 0,6 2 0,0 0 0,-2 1 0,-7-1 0,-8-3 0,-8-5 0,-7-5 0,0-4 0,7 0 0,8 5 0,10 3 0,8 5 0,3 3 0,3 2 0,1-1 0,-1-3 0,-2-6 0,-2-6 0,0 0 0,2 3 0,2 5 0,1 5 0,1 1 0,0-3 0,0-4 0,0-5 0,0-2 0,0 0 0,1 3 0,2 5 0,3 3 0,2 1 0,1-3 0,-3-4 0,0-5 0,-2-4 0,-1-1 0,-2 2 0,-1 7 0,1 4 0,0 2 0,1 2 0,0 0 0,-2 4 0,-4 3 0,-3 2 0,-1 2 0,-3 0 0,0 0 0,1 0 0,0-3 0,6-3 0,2-3 0,2-1 0,0 0 0,0 1 0,0 5 0,0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22:09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9T05:22:10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19 24575,'-5'-10'0,"1"1"0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E5930-2B95-AC16-472B-478CFE969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E97C29-26AA-95AA-C593-0766912A8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B878A-31B3-7A61-32A5-46095AA7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608DE-86E1-29D7-1062-4BB654179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9530D-C73C-765C-48CB-15CC02D96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E7BF-EAB6-5E0F-9501-F626347F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015FD-D10E-A42A-038D-0B1686DA0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ECE58-E02D-8A12-20B9-E8B2C1C4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D9AD8-CC56-2185-F723-5E4AD603D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050E8-FC84-3705-F162-D562E1D7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3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2BC15-148D-2B1A-A724-604866322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E5BB1-E127-8473-363A-360C86441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9EA60-D82A-DC0F-0531-57FEF829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87E90-B060-5C62-03DC-7E9E50AB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6E3D9-C576-499C-05E5-B6A7B5188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6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9B10D-2696-E292-5BC2-29A586060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FA4FA-7E99-98D9-3993-28AF9635A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C3AE5-A06A-42A4-EE65-A7340D5ED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14DA8-0D94-5760-F1BE-C25704AC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17D61-CE96-1092-FF92-6290D6D3E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DB002-7B43-8F44-B135-6A236595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4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BBAD7-EB6A-F7EA-A0D7-F1B8078DB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D2048-B75B-BFA7-AAA2-00E50BEE9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B8B38-0234-CB09-9D96-6CC3B542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9F33A-12D4-9066-FAA4-02B0131CC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485CC-2B05-46B1-E3C0-AC42B9FDC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9925C-DA6D-D883-A1CF-BB84F8B1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23A8F-0B8E-D611-249C-7651DEE8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49756-9451-EE78-4BE9-D7450147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33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789A-FFF2-D73D-4AB3-3448641A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9CA7B-87CE-8810-0C29-ADBF6D48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E6B28-CAB1-5F11-00FF-B7D274FD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CB2F7-0840-D69A-970B-F70889968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22363F-3BED-7AF0-BAE8-B9745ACF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A6504-C003-89CF-2556-E5336475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DFC34-DF50-61D7-9913-CD27AE5EB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360E-5670-7196-70C6-FCD07573B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F0F95-EB68-EB00-FA7E-489E214AF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49DB9F-4A48-0807-F58E-8B292B4D8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FC484-62BA-8121-CC36-AA6757A1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69485-DD91-0B0B-0B95-0BD3DFC5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569DC-3865-379D-B869-ECF574DC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2F58-24A4-5150-958C-EA9AB508A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D862D-424D-A0A8-1027-7A5E66B5D9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495EA-B3F9-AE9D-4428-C9BE6DA0B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7C513-A10C-1016-651B-175A4AA62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06302-834E-A97E-B24D-84231FA5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1886F5-5AB8-BE56-0CA6-0CFFC5205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61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1B69-2B2C-2A62-A0A2-15A65E782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A5D25-BB6E-F8C8-7A1F-F5E6732B5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D5B41-0AA2-D868-B3DF-1BA6EF622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7D2B5-7FB9-070C-C178-D74BE2DF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FD6FC-4A12-811B-199D-0CD5D909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0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08329-52E1-7CCE-FF7E-3C97BC7A8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59F99-1112-62C2-9039-F1FB2A53C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EFBF0-A31B-F2C1-A71A-7E547D0F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A4F8C-18DC-DFCF-5CDF-0FBB7507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061AF-8674-7E19-D989-BF970532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99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5A6DA-E683-7420-9391-B48AEF62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DA4BF-ED70-DE06-8C42-DF2A404AE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F40B9-FE31-2E34-B18E-27F78781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BB7C27-0C9A-734C-881E-9768D2C31469}" type="datetimeFigureOut">
              <a:rPr lang="en-US" smtClean="0"/>
              <a:t>9/19/25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E342D-B143-4B4E-25ED-0AEFEEF00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CC4B1-8CF7-8745-FFA2-01D9D3CF1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FAA99D-1C51-8F47-BD10-85D935AC7E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3" Type="http://schemas.openxmlformats.org/officeDocument/2006/relationships/customXml" Target="../ink/ink6.xml"/><Relationship Id="rId7" Type="http://schemas.openxmlformats.org/officeDocument/2006/relationships/customXml" Target="../ink/ink8.xml"/><Relationship Id="rId12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9.xml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23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customXml" Target="../ink/ink16.xml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22.png"/><Relationship Id="rId5" Type="http://schemas.openxmlformats.org/officeDocument/2006/relationships/image" Target="../media/image13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6A76-733D-39CA-EB74-0661F297A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SEMPHY101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DC2291-BBB7-BC43-E944-06691860D2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Extrinsic Semiconductor</a:t>
            </a:r>
          </a:p>
        </p:txBody>
      </p:sp>
    </p:spTree>
    <p:extLst>
      <p:ext uri="{BB962C8B-B14F-4D97-AF65-F5344CB8AC3E}">
        <p14:creationId xmlns:p14="http://schemas.microsoft.com/office/powerpoint/2010/main" val="16052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508B-463B-6209-F502-DF8C069D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233DFA-8A7D-709E-3BA3-988D6BC0D7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Intrinsic Semiconductor (not doped)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b="0" dirty="0"/>
                  <a:t>: Fermi energy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b="0" dirty="0"/>
                  <a:t>: conduction band, lowest energy in the conduction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valence highest energy in the conduction band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b="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 Fermi Dirac Statistics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233DFA-8A7D-709E-3BA3-988D6BC0D7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689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43A6-44FC-159D-4081-91F5441C1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37A69-DE97-04DF-0F83-524425A85D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g: dos states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electrons, electron moves from valence band to the conduction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holes, empty spot in the orbital left from the conduction band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837A69-DE97-04DF-0F83-524425A85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1340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FB5E1-560B-3CEA-1124-1B6FBC4D6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ç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2DF5B-4BAD-6480-49D8-14F657B9A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900" y="4097356"/>
            <a:ext cx="5918200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D3C85F-C593-E86A-A35C-65BB3DC95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900" y="1541444"/>
            <a:ext cx="34671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47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95802-F4DE-9367-25C2-D102DAE1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6A75C9-B6E7-D74D-E17C-1CE4DCE15F31}"/>
              </a:ext>
            </a:extLst>
          </p:cNvPr>
          <p:cNvCxnSpPr/>
          <p:nvPr/>
        </p:nvCxnSpPr>
        <p:spPr>
          <a:xfrm>
            <a:off x="1740665" y="5233012"/>
            <a:ext cx="67753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2FDE41-41EA-2293-4C0C-F6D8B559AD1F}"/>
                  </a:ext>
                </a:extLst>
              </p:cNvPr>
              <p:cNvSpPr txBox="1"/>
              <p:nvPr/>
            </p:nvSpPr>
            <p:spPr>
              <a:xfrm>
                <a:off x="8640566" y="4993240"/>
                <a:ext cx="328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2FDE41-41EA-2293-4C0C-F6D8B559A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566" y="4993240"/>
                <a:ext cx="328773" cy="369332"/>
              </a:xfrm>
              <a:prstGeom prst="rect">
                <a:avLst/>
              </a:prstGeom>
              <a:blipFill>
                <a:blip r:embed="rId2"/>
                <a:stretch>
                  <a:fillRect r="-5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BE9E5A-2DC2-5BAF-0B90-859BB9E10EB3}"/>
              </a:ext>
            </a:extLst>
          </p:cNvPr>
          <p:cNvCxnSpPr/>
          <p:nvPr/>
        </p:nvCxnSpPr>
        <p:spPr>
          <a:xfrm>
            <a:off x="1616138" y="2755228"/>
            <a:ext cx="67753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423875-5420-1F28-7E5A-4908CD2C7CD8}"/>
                  </a:ext>
                </a:extLst>
              </p:cNvPr>
              <p:cNvSpPr txBox="1"/>
              <p:nvPr/>
            </p:nvSpPr>
            <p:spPr>
              <a:xfrm>
                <a:off x="8516039" y="2515456"/>
                <a:ext cx="328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423875-5420-1F28-7E5A-4908CD2C7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6039" y="2515456"/>
                <a:ext cx="328773" cy="369332"/>
              </a:xfrm>
              <a:prstGeom prst="rect">
                <a:avLst/>
              </a:prstGeom>
              <a:blipFill>
                <a:blip r:embed="rId3"/>
                <a:stretch>
                  <a:fillRect r="-4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41714D-0229-78F8-ECE2-B18EAF7763F8}"/>
                  </a:ext>
                </a:extLst>
              </p:cNvPr>
              <p:cNvSpPr txBox="1"/>
              <p:nvPr/>
            </p:nvSpPr>
            <p:spPr>
              <a:xfrm>
                <a:off x="1162217" y="4734121"/>
                <a:ext cx="76825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{   }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41714D-0229-78F8-ECE2-B18EAF776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217" y="4734121"/>
                <a:ext cx="7682595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9C19E2-F458-1423-852D-48CF14CFC41F}"/>
                  </a:ext>
                </a:extLst>
              </p:cNvPr>
              <p:cNvSpPr txBox="1"/>
              <p:nvPr/>
            </p:nvSpPr>
            <p:spPr>
              <a:xfrm>
                <a:off x="1076219" y="2330790"/>
                <a:ext cx="60977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9C19E2-F458-1423-852D-48CF14CFC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219" y="2330790"/>
                <a:ext cx="609771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6364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167DB-E4B0-A2FE-E242-2740681A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concentrations of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2E871-AC56-5394-FA3C-52B828DB9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52E871-AC56-5394-FA3C-52B828DB9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47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FC9FC7-57A1-F39B-BC0B-3970B58F6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837" y="-1"/>
            <a:ext cx="9233456" cy="714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321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D8A74-2346-BB7C-7D2E-84BEF364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Silicon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474A6-1AE6-C755-6501-26BCE42C08DF}"/>
              </a:ext>
            </a:extLst>
          </p:cNvPr>
          <p:cNvSpPr txBox="1"/>
          <p:nvPr/>
        </p:nvSpPr>
        <p:spPr>
          <a:xfrm>
            <a:off x="4808305" y="2876764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EE091-8DAC-EADB-6B03-8B06CF07E3B9}"/>
              </a:ext>
            </a:extLst>
          </p:cNvPr>
          <p:cNvSpPr txBox="1"/>
          <p:nvPr/>
        </p:nvSpPr>
        <p:spPr>
          <a:xfrm>
            <a:off x="4808305" y="2093923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79083-C5E6-9374-2B4A-9F768C9C05A0}"/>
              </a:ext>
            </a:extLst>
          </p:cNvPr>
          <p:cNvSpPr txBox="1"/>
          <p:nvPr/>
        </p:nvSpPr>
        <p:spPr>
          <a:xfrm>
            <a:off x="4808305" y="3588788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BFB81-8560-847B-651E-534680DABED1}"/>
              </a:ext>
            </a:extLst>
          </p:cNvPr>
          <p:cNvSpPr txBox="1"/>
          <p:nvPr/>
        </p:nvSpPr>
        <p:spPr>
          <a:xfrm>
            <a:off x="5464139" y="2866490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F38388-B796-BF40-710B-CB605A6CB674}"/>
              </a:ext>
            </a:extLst>
          </p:cNvPr>
          <p:cNvSpPr txBox="1"/>
          <p:nvPr/>
        </p:nvSpPr>
        <p:spPr>
          <a:xfrm>
            <a:off x="4213261" y="2866490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27CEF1-E930-707B-9011-B35F448042C1}"/>
                  </a:ext>
                </a:extLst>
              </p:cNvPr>
              <p:cNvSpPr txBox="1"/>
              <p:nvPr/>
            </p:nvSpPr>
            <p:spPr>
              <a:xfrm>
                <a:off x="7726166" y="1690688"/>
                <a:ext cx="181735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Type IV: Element</a:t>
                </a:r>
              </a:p>
              <a:p>
                <a:r>
                  <a:rPr lang="en-US" dirty="0"/>
                  <a:t>[Ne]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2,8,[4]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27CEF1-E930-707B-9011-B35F44804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6166" y="1690688"/>
                <a:ext cx="1817357" cy="923330"/>
              </a:xfrm>
              <a:prstGeom prst="rect">
                <a:avLst/>
              </a:prstGeom>
              <a:blipFill>
                <a:blip r:embed="rId2"/>
                <a:stretch>
                  <a:fillRect l="-2778" t="-1351" r="-2083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52D15F4-83AF-6EC8-5EF5-B50981AA1E24}"/>
                  </a:ext>
                </a:extLst>
              </p14:cNvPr>
              <p14:cNvContentPartPr/>
              <p14:nvPr/>
            </p14:nvContentPartPr>
            <p14:xfrm>
              <a:off x="4595109" y="3098751"/>
              <a:ext cx="181080" cy="7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52D15F4-83AF-6EC8-5EF5-B50981AA1E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8989" y="3092631"/>
                <a:ext cx="1933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56CB9E-5B51-FF62-756C-72FB885AAF71}"/>
                  </a:ext>
                </a:extLst>
              </p14:cNvPr>
              <p14:cNvContentPartPr/>
              <p14:nvPr/>
            </p14:nvContentPartPr>
            <p14:xfrm>
              <a:off x="4966629" y="2551551"/>
              <a:ext cx="63720" cy="2282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56CB9E-5B51-FF62-756C-72FB885AAF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60509" y="2545431"/>
                <a:ext cx="7596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60A227F-9F1D-8454-9F3E-4B58A078A73C}"/>
              </a:ext>
            </a:extLst>
          </p:cNvPr>
          <p:cNvGrpSpPr/>
          <p:nvPr/>
        </p:nvGrpSpPr>
        <p:grpSpPr>
          <a:xfrm>
            <a:off x="5158509" y="3063831"/>
            <a:ext cx="322200" cy="21600"/>
            <a:chOff x="5158509" y="3063831"/>
            <a:chExt cx="322200" cy="2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512F42-1F33-4610-41C5-018516BF4927}"/>
                    </a:ext>
                  </a:extLst>
                </p14:cNvPr>
                <p14:cNvContentPartPr/>
                <p14:nvPr/>
              </p14:nvContentPartPr>
              <p14:xfrm>
                <a:off x="5168949" y="3065271"/>
                <a:ext cx="4320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512F42-1F33-4610-41C5-018516BF492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62829" y="3059151"/>
                  <a:ext cx="55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6B2978-0FFD-7FEC-480F-1F147234E88F}"/>
                    </a:ext>
                  </a:extLst>
                </p14:cNvPr>
                <p14:cNvContentPartPr/>
                <p14:nvPr/>
              </p14:nvContentPartPr>
              <p14:xfrm>
                <a:off x="5158509" y="3063831"/>
                <a:ext cx="322200" cy="216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6B2978-0FFD-7FEC-480F-1F147234E88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52389" y="3057711"/>
                  <a:ext cx="3344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1C13E6-801C-0392-7B08-F039BF054461}"/>
                  </a:ext>
                </a:extLst>
              </p14:cNvPr>
              <p14:cNvContentPartPr/>
              <p14:nvPr/>
            </p14:nvContentPartPr>
            <p14:xfrm>
              <a:off x="4979589" y="3277311"/>
              <a:ext cx="54000" cy="333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1C13E6-801C-0392-7B08-F039BF05446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73469" y="3271191"/>
                <a:ext cx="66240" cy="34560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55FEDC5-C0FA-BE2A-2D85-EC44AADC297C}"/>
              </a:ext>
            </a:extLst>
          </p:cNvPr>
          <p:cNvSpPr txBox="1"/>
          <p:nvPr/>
        </p:nvSpPr>
        <p:spPr>
          <a:xfrm>
            <a:off x="7109717" y="3610671"/>
            <a:ext cx="27002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dopants that we use:</a:t>
            </a:r>
          </a:p>
          <a:p>
            <a:r>
              <a:rPr lang="en-US" dirty="0"/>
              <a:t>P = 5</a:t>
            </a:r>
          </a:p>
          <a:p>
            <a:r>
              <a:rPr lang="en-US" dirty="0"/>
              <a:t>B = 3</a:t>
            </a:r>
          </a:p>
        </p:txBody>
      </p:sp>
    </p:spTree>
    <p:extLst>
      <p:ext uri="{BB962C8B-B14F-4D97-AF65-F5344CB8AC3E}">
        <p14:creationId xmlns:p14="http://schemas.microsoft.com/office/powerpoint/2010/main" val="2752769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FA3A-8FB8-4E7A-02B0-38F5A305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9694-D721-1919-2E29-4BC4A930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n_type</a:t>
            </a:r>
            <a:r>
              <a:rPr lang="en-US" dirty="0"/>
              <a:t> doped Silicon (dope  with 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DB2554-BFDD-A53C-A0D4-C099F646D7B0}"/>
                  </a:ext>
                </a:extLst>
              </p:cNvPr>
              <p:cNvSpPr txBox="1"/>
              <p:nvPr/>
            </p:nvSpPr>
            <p:spPr>
              <a:xfrm>
                <a:off x="9006802" y="1690688"/>
                <a:ext cx="181735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Type IV: Element</a:t>
                </a:r>
              </a:p>
              <a:p>
                <a:r>
                  <a:rPr lang="en-US" dirty="0"/>
                  <a:t>[Ne]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2,8,[4]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7DB2554-BFDD-A53C-A0D4-C099F646D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802" y="1690688"/>
                <a:ext cx="1817357" cy="923330"/>
              </a:xfrm>
              <a:prstGeom prst="rect">
                <a:avLst/>
              </a:prstGeom>
              <a:blipFill>
                <a:blip r:embed="rId2"/>
                <a:stretch>
                  <a:fillRect l="-2069" t="-1351" r="-1379"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0B2007E-0A1C-B43E-E37A-7FAD824772EF}"/>
              </a:ext>
            </a:extLst>
          </p:cNvPr>
          <p:cNvSpPr txBox="1"/>
          <p:nvPr/>
        </p:nvSpPr>
        <p:spPr>
          <a:xfrm>
            <a:off x="8123933" y="5271435"/>
            <a:ext cx="27002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dopants that we use:</a:t>
            </a:r>
          </a:p>
          <a:p>
            <a:r>
              <a:rPr lang="en-US" dirty="0"/>
              <a:t>P = 5</a:t>
            </a:r>
          </a:p>
          <a:p>
            <a:r>
              <a:rPr lang="en-US" dirty="0"/>
              <a:t>B =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4BDB2-2E5D-8301-82A2-BF595F462DB4}"/>
              </a:ext>
            </a:extLst>
          </p:cNvPr>
          <p:cNvSpPr txBox="1"/>
          <p:nvPr/>
        </p:nvSpPr>
        <p:spPr>
          <a:xfrm>
            <a:off x="2393878" y="5411519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84FC3-51CC-7536-8A82-35100F7D011D}"/>
              </a:ext>
            </a:extLst>
          </p:cNvPr>
          <p:cNvSpPr txBox="1"/>
          <p:nvPr/>
        </p:nvSpPr>
        <p:spPr>
          <a:xfrm>
            <a:off x="2393878" y="4628678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8F3172-14C1-3E79-265A-365CD7BA5052}"/>
              </a:ext>
            </a:extLst>
          </p:cNvPr>
          <p:cNvSpPr txBox="1"/>
          <p:nvPr/>
        </p:nvSpPr>
        <p:spPr>
          <a:xfrm>
            <a:off x="2393878" y="6123543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B93C2-CC43-D6D0-EEE6-703E6EB64815}"/>
              </a:ext>
            </a:extLst>
          </p:cNvPr>
          <p:cNvSpPr txBox="1"/>
          <p:nvPr/>
        </p:nvSpPr>
        <p:spPr>
          <a:xfrm>
            <a:off x="3049712" y="5401245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F15ADA-6D0F-EC23-288D-84A138AC3FC6}"/>
              </a:ext>
            </a:extLst>
          </p:cNvPr>
          <p:cNvSpPr txBox="1"/>
          <p:nvPr/>
        </p:nvSpPr>
        <p:spPr>
          <a:xfrm>
            <a:off x="1798834" y="5401245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288F1AB-E329-3D85-D292-0432EEB7E4AD}"/>
                  </a:ext>
                </a:extLst>
              </p14:cNvPr>
              <p14:cNvContentPartPr/>
              <p14:nvPr/>
            </p14:nvContentPartPr>
            <p14:xfrm>
              <a:off x="2180682" y="5633506"/>
              <a:ext cx="181080" cy="7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288F1AB-E329-3D85-D292-0432EEB7E4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4562" y="5627386"/>
                <a:ext cx="1933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E747BB0-8FC2-9CA4-057D-BB673A8CB3AD}"/>
                  </a:ext>
                </a:extLst>
              </p14:cNvPr>
              <p14:cNvContentPartPr/>
              <p14:nvPr/>
            </p14:nvContentPartPr>
            <p14:xfrm>
              <a:off x="2552202" y="5086306"/>
              <a:ext cx="63720" cy="228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E747BB0-8FC2-9CA4-057D-BB673A8CB3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46082" y="5080186"/>
                <a:ext cx="75960" cy="24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F7FB3C24-3208-E306-D429-EA7DA5D4E757}"/>
              </a:ext>
            </a:extLst>
          </p:cNvPr>
          <p:cNvGrpSpPr/>
          <p:nvPr/>
        </p:nvGrpSpPr>
        <p:grpSpPr>
          <a:xfrm>
            <a:off x="2744082" y="5598586"/>
            <a:ext cx="322200" cy="21600"/>
            <a:chOff x="5158509" y="3063831"/>
            <a:chExt cx="322200" cy="2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462426C-12F1-617A-5AA3-0A1E504B2E3D}"/>
                    </a:ext>
                  </a:extLst>
                </p14:cNvPr>
                <p14:cNvContentPartPr/>
                <p14:nvPr/>
              </p14:nvContentPartPr>
              <p14:xfrm>
                <a:off x="5168949" y="3065271"/>
                <a:ext cx="4320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462426C-12F1-617A-5AA3-0A1E504B2E3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62829" y="3059151"/>
                  <a:ext cx="55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9CFC44F-BE32-D0E4-84F4-FCC4631F0E9B}"/>
                    </a:ext>
                  </a:extLst>
                </p14:cNvPr>
                <p14:cNvContentPartPr/>
                <p14:nvPr/>
              </p14:nvContentPartPr>
              <p14:xfrm>
                <a:off x="5158509" y="3063831"/>
                <a:ext cx="322200" cy="21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9CFC44F-BE32-D0E4-84F4-FCC4631F0E9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52389" y="3057711"/>
                  <a:ext cx="33444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AFA8C40-772C-7072-8144-59C0DD9A45E8}"/>
                  </a:ext>
                </a:extLst>
              </p14:cNvPr>
              <p14:cNvContentPartPr/>
              <p14:nvPr/>
            </p14:nvContentPartPr>
            <p14:xfrm>
              <a:off x="2565162" y="5812066"/>
              <a:ext cx="54000" cy="333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AFA8C40-772C-7072-8144-59C0DD9A45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59042" y="5805946"/>
                <a:ext cx="6624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DCFB29-7338-AC57-E117-7163751F3761}"/>
                  </a:ext>
                </a:extLst>
              </p:cNvPr>
              <p:cNvSpPr txBox="1"/>
              <p:nvPr/>
            </p:nvSpPr>
            <p:spPr>
              <a:xfrm>
                <a:off x="2727990" y="5195638"/>
                <a:ext cx="488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DCFB29-7338-AC57-E117-7163751F37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990" y="5195638"/>
                <a:ext cx="48872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83DDC51-B7EB-3421-1C13-DB3684516A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1266791"/>
            <a:ext cx="6829389" cy="327359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FACF91-F2FE-6CB9-B297-2793405F558C}"/>
                  </a:ext>
                </a:extLst>
              </p:cNvPr>
              <p:cNvSpPr txBox="1"/>
              <p:nvPr/>
            </p:nvSpPr>
            <p:spPr>
              <a:xfrm>
                <a:off x="4171307" y="4729735"/>
                <a:ext cx="2209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𝑑𝑜𝑛𝑜𝑟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𝑒𝑛𝑒𝑟𝑔𝑦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CFACF91-F2FE-6CB9-B297-2793405F5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307" y="4729735"/>
                <a:ext cx="2209579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789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213C-B55C-408E-A9B2-9571831D6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p-type doped Silicon (doped with 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6921C-1C6A-A67D-6174-3A8C71449032}"/>
              </a:ext>
            </a:extLst>
          </p:cNvPr>
          <p:cNvSpPr txBox="1"/>
          <p:nvPr/>
        </p:nvSpPr>
        <p:spPr>
          <a:xfrm>
            <a:off x="1433244" y="2436964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BADA7-336C-0D71-5803-480B442E96D6}"/>
              </a:ext>
            </a:extLst>
          </p:cNvPr>
          <p:cNvSpPr txBox="1"/>
          <p:nvPr/>
        </p:nvSpPr>
        <p:spPr>
          <a:xfrm>
            <a:off x="1433244" y="3148988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8255D-75F7-CE85-0A38-330E88B863B5}"/>
              </a:ext>
            </a:extLst>
          </p:cNvPr>
          <p:cNvSpPr txBox="1"/>
          <p:nvPr/>
        </p:nvSpPr>
        <p:spPr>
          <a:xfrm>
            <a:off x="2089078" y="2426690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EBF397-6717-E39A-0185-3A18A3A5F6FB}"/>
              </a:ext>
            </a:extLst>
          </p:cNvPr>
          <p:cNvSpPr txBox="1"/>
          <p:nvPr/>
        </p:nvSpPr>
        <p:spPr>
          <a:xfrm>
            <a:off x="838200" y="2426690"/>
            <a:ext cx="390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F74775B-47C2-FBB6-B156-320F7E6CC1AE}"/>
                  </a:ext>
                </a:extLst>
              </p14:cNvPr>
              <p14:cNvContentPartPr/>
              <p14:nvPr/>
            </p14:nvContentPartPr>
            <p14:xfrm>
              <a:off x="1220048" y="2658951"/>
              <a:ext cx="181080" cy="7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F74775B-47C2-FBB6-B156-320F7E6CC1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3928" y="2652831"/>
                <a:ext cx="19332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2083E6-EE33-9E68-6E0C-584704A14307}"/>
                  </a:ext>
                </a:extLst>
              </p14:cNvPr>
              <p14:cNvContentPartPr/>
              <p14:nvPr/>
            </p14:nvContentPartPr>
            <p14:xfrm>
              <a:off x="1591568" y="2111751"/>
              <a:ext cx="63720" cy="228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2083E6-EE33-9E68-6E0C-584704A143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85448" y="2105631"/>
                <a:ext cx="759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57F577E-E898-95E1-B44F-2474F63E0122}"/>
                  </a:ext>
                </a:extLst>
              </p14:cNvPr>
              <p14:cNvContentPartPr/>
              <p14:nvPr/>
            </p14:nvContentPartPr>
            <p14:xfrm>
              <a:off x="1604528" y="2837511"/>
              <a:ext cx="54000" cy="333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57F577E-E898-95E1-B44F-2474F63E012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8408" y="2831391"/>
                <a:ext cx="66240" cy="3456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F988433-B337-9E24-68F1-8E9034F6290D}"/>
              </a:ext>
            </a:extLst>
          </p:cNvPr>
          <p:cNvSpPr txBox="1"/>
          <p:nvPr/>
        </p:nvSpPr>
        <p:spPr>
          <a:xfrm>
            <a:off x="1401128" y="1773716"/>
            <a:ext cx="36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6768D5-BB91-A803-2F1A-0F0A652F23D8}"/>
              </a:ext>
            </a:extLst>
          </p:cNvPr>
          <p:cNvSpPr txBox="1"/>
          <p:nvPr/>
        </p:nvSpPr>
        <p:spPr>
          <a:xfrm>
            <a:off x="716096" y="4054207"/>
            <a:ext cx="21648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Si: 4 outer electrons</a:t>
            </a:r>
          </a:p>
          <a:p>
            <a:r>
              <a:rPr lang="en-US" dirty="0"/>
              <a:t>B: 3 outer electrons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2E772A-E9DF-5442-DF8C-D4CBD7C8854A}"/>
                  </a:ext>
                </a:extLst>
              </p14:cNvPr>
              <p14:cNvContentPartPr/>
              <p14:nvPr/>
            </p14:nvContentPartPr>
            <p14:xfrm>
              <a:off x="1740075" y="2475360"/>
              <a:ext cx="449280" cy="4604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2E772A-E9DF-5442-DF8C-D4CBD7C885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22075" y="2457720"/>
                <a:ext cx="48492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C4FF34C-468B-8C6E-4203-7131D9DFADD3}"/>
                  </a:ext>
                </a:extLst>
              </p14:cNvPr>
              <p14:cNvContentPartPr/>
              <p14:nvPr/>
            </p14:nvContentPartPr>
            <p14:xfrm>
              <a:off x="5193915" y="3519000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C4FF34C-468B-8C6E-4203-7131D9DFAD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75915" y="350100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75C7A9E-2A15-A85F-8B80-1CB6772EE768}"/>
                  </a:ext>
                </a:extLst>
              </p14:cNvPr>
              <p14:cNvContentPartPr/>
              <p14:nvPr/>
            </p14:nvContentPartPr>
            <p14:xfrm>
              <a:off x="3910155" y="2508840"/>
              <a:ext cx="3600" cy="72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75C7A9E-2A15-A85F-8B80-1CB6772EE76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92515" y="2490840"/>
                <a:ext cx="39240" cy="4284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FA50BA87-7C43-464C-C400-F28072AD32F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85610" y="1690688"/>
            <a:ext cx="8654853" cy="393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119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D611-6189-D11E-8C5C-DEDAF82A9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 impact (n-type)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A7319F-D509-DE64-9EDB-51B89071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0351"/>
            <a:ext cx="2222415" cy="5167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E6048E-7BD2-D074-F722-DECD241FC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330" y="1470351"/>
            <a:ext cx="3167243" cy="48863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D6592C-6916-8E70-B3F5-C1481CEC403C}"/>
                  </a:ext>
                </a:extLst>
              </p:cNvPr>
              <p:cNvSpPr txBox="1"/>
              <p:nvPr/>
            </p:nvSpPr>
            <p:spPr>
              <a:xfrm>
                <a:off x="5640636" y="2754216"/>
                <a:ext cx="16065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D6592C-6916-8E70-B3F5-C1481CEC4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0636" y="2754216"/>
                <a:ext cx="1606594" cy="276999"/>
              </a:xfrm>
              <a:prstGeom prst="rect">
                <a:avLst/>
              </a:prstGeom>
              <a:blipFill>
                <a:blip r:embed="rId4"/>
                <a:stretch>
                  <a:fillRect t="-4348" r="-5512"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604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BD8CD-A57E-AE11-BEC5-9FEC490B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471F-D06F-7422-3FF9-31B715E1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DoS impact (p-type)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66F9D-8330-148C-54AF-1650764A9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70351"/>
            <a:ext cx="2222415" cy="51673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AFC04D-8FFB-6EE0-153B-3BB03C9DE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717" y="1470351"/>
            <a:ext cx="3354083" cy="500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6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A3B7-53D6-0535-1F49-60C4D97EE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calculate ionization energies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057FD-A0EA-BDEC-7855-940DDAF5DD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Neaman (Bohr) (pretend hydrogen)</a:t>
                </a:r>
              </a:p>
              <a:p>
                <a:pPr lvl="1"/>
                <a:r>
                  <a:rPr lang="en-US" dirty="0"/>
                  <a:t>You have an electron that orbits the nucleus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 the velocity of the electron going around the nucleus and then you add a correction factor to ensure angular momentum is conserved.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057FD-A0EA-BDEC-7855-940DDAF5DD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E9D2A00-B846-6CE6-3594-45003E32F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954" y="3619643"/>
            <a:ext cx="2349500" cy="101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977042-8F2E-28A4-95E3-9CFA8AF5C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208" y="3689493"/>
            <a:ext cx="2959100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A1944C-AA63-22A9-CC66-7956DACB1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358" y="4700730"/>
            <a:ext cx="31877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347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4AD4-340C-804A-4327-0D6E0054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0E5BD9-AD61-FDC7-F85E-3FAC9B152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9350" y="2362994"/>
            <a:ext cx="48133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99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A7A0-11A1-E627-BD56-DD123E65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Equilibrium Concentration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FC85DF-8E4C-C27B-DE60-4D92EF540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82098"/>
            <a:ext cx="5918200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188D81-F779-AEF4-1E4D-C78DF5B8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10" y="2108200"/>
            <a:ext cx="3467100" cy="132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CB5967-DEA2-6FAA-692C-92ED685009B6}"/>
              </a:ext>
            </a:extLst>
          </p:cNvPr>
          <p:cNvSpPr txBox="1"/>
          <p:nvPr/>
        </p:nvSpPr>
        <p:spPr>
          <a:xfrm>
            <a:off x="986436" y="3543884"/>
            <a:ext cx="33392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the intrinsic semiconductor,</a:t>
            </a:r>
          </a:p>
          <a:p>
            <a:endParaRPr lang="en-US" dirty="0"/>
          </a:p>
          <a:p>
            <a:r>
              <a:rPr lang="en-US" dirty="0" err="1"/>
              <a:t>n_i</a:t>
            </a:r>
            <a:r>
              <a:rPr lang="en-US" dirty="0"/>
              <a:t>=</a:t>
            </a:r>
            <a:r>
              <a:rPr lang="en-US" dirty="0" err="1"/>
              <a:t>p_i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90DCFC-C798-33B9-E318-7B706B0F1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607" y="2209800"/>
            <a:ext cx="3060700" cy="111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B46CB6-30F4-D958-BB22-BE68E72AB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8934" y="4435019"/>
            <a:ext cx="33274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20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D083A-8B1D-84F9-B018-19CBAAAD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Degenerate Semiconductors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22444-C7E3-ED9E-9795-7110604E7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75866"/>
            <a:ext cx="10161754" cy="450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84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83FE-D8D6-B7FD-1B57-BE44278C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n-type semiconductors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2A8943-AE4A-1267-5C52-2639A02F58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2A8943-AE4A-1267-5C52-2639A02F58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64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F8A8-FCD9-F001-0B96-9D14A310A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P-type semiconductors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CC684-D6EC-4BEA-47E9-96D0D79B6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0CC684-D6EC-4BEA-47E9-96D0D79B6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60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4101</TotalTime>
  <Words>330</Words>
  <Application>Microsoft Macintosh PowerPoint</Application>
  <PresentationFormat>Widescreen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SEMPHY101</vt:lpstr>
      <vt:lpstr>Review</vt:lpstr>
      <vt:lpstr>PowerPoint Presentation</vt:lpstr>
      <vt:lpstr>ç</vt:lpstr>
      <vt:lpstr>PowerPoint Presentation</vt:lpstr>
      <vt:lpstr>Calculate the concentrations of </vt:lpstr>
      <vt:lpstr>PowerPoint Presentation</vt:lpstr>
      <vt:lpstr>Silicon</vt:lpstr>
      <vt:lpstr>n_type doped Silicon (dope  with P)</vt:lpstr>
      <vt:lpstr>p-type doped Silicon (doped with B)</vt:lpstr>
      <vt:lpstr>DoS impact (n-type)</vt:lpstr>
      <vt:lpstr>DoS impact (p-type)</vt:lpstr>
      <vt:lpstr>How to calculate ionization energies</vt:lpstr>
      <vt:lpstr>PowerPoint Presentation</vt:lpstr>
      <vt:lpstr>Thermal Equilibrium Concentration</vt:lpstr>
      <vt:lpstr>Degenerate Semiconductors</vt:lpstr>
      <vt:lpstr>n-type semiconductors</vt:lpstr>
      <vt:lpstr>P-type semiconductors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1</cp:revision>
  <dcterms:created xsi:type="dcterms:W3CDTF">2025-09-19T04:51:28Z</dcterms:created>
  <dcterms:modified xsi:type="dcterms:W3CDTF">2025-09-22T01:12:52Z</dcterms:modified>
</cp:coreProperties>
</file>
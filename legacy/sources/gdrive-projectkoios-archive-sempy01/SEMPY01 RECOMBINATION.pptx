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C12D-C339-8908-CAB2-03E1B4EC0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5D077-E952-73F9-37B7-DA0068192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A9E9-7024-AE56-A4CB-1C5451EE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27BC2-2034-6329-70D3-6A9EA9D7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6DED3-E1FA-F3B2-B298-2ED9500F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C5DD-105D-0835-D51C-B4711021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5AF1-F817-6644-3365-7159F788D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E6BB0-DD04-B28A-8D92-7674CCC7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5FC29-445E-BD82-4F0E-D5C6E4C6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B6CE-F270-2A9D-690A-7CBEE028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2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2D3D-B699-0807-1313-877CAF43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56617-517D-2F9E-24D5-4E7858D50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626CF-B8DC-9779-F62A-0FD88A7F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CC64E-4BA9-73E8-06C3-14791C73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4A88-2906-C944-876F-6806F9FB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4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E428-F2D9-08D6-633A-C751C8E0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B24C-DE27-C8B9-29E0-DF26E23BD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53C44-7A80-1684-A630-A0FDB835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00D1-3DE7-E742-FF94-D1A9573D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5F9C4-A8BB-6649-9C73-17B57B0E7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9EA73-8371-9278-E25E-06F80884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9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19F1-6F7C-8C14-6611-0DD22B10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16D6-E0E6-B143-65B3-EF0DC8044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A6F49-9B84-6F76-5FBB-15924AD65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0B138-6C6B-EB83-96D1-76061B7C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FBFBF-0D3D-1DE1-2E72-B0D90E6E1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DEE58-7491-6DB2-1AD5-9C5DA9B8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DAFD8-4730-3053-8FC5-8EEA2D72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F97DE-EB62-366B-A37D-B9F390D0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D478-2B94-B96C-F948-9FA5CEAF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3B0B2-03B7-A80D-44EA-70817D7A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26E07-68EA-47D4-0806-AE7C4ADE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E1513-1367-E2CA-430A-61C89F6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0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5F5D6-223D-6CF3-A829-C1B9383B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4CA2D-B589-DA2D-1064-238205A7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8EADA-567B-37FF-D31E-5C7CC81A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8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000B-DFFD-E776-4D32-787FCB2A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AFB0A-1611-44F0-65AD-ABF4EB4A0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53B6-1B20-12BC-D4E7-1A24AE04F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3DF1C-FF89-1886-F943-9A7DE4532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F5DA7-F43B-BE8A-4ADD-50B5E26F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2998B-D55A-185C-6262-2AEF6C57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6525-047D-6FE8-06FD-B2EE6172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646CE-B42C-913A-2E97-4C5BE7005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2866C-4111-D819-3D9C-A7E333710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8EBC3-F24F-AC64-CE22-40BF1975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51854-655F-2604-52BF-92FDBF80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D980F-E2CC-73CF-E1F9-A15CFD0E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9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A3FF-E24E-F1D4-1C2D-B848E20C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24A29-A510-FF4B-E6DE-9D9419B0F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2F66-C72C-F212-F265-867044C5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0E27-E0AB-107B-7187-85489E7B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B16D3-8E0E-3A9E-F454-E9DD9CFA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079045-E98D-5C80-C498-FDFF9D7D2A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46788-4C17-BAD4-9D7E-F323E901E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40F8-E3B5-2DAA-4B51-8D328180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85A90-5113-43A5-88F5-690157F5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CE14-06A2-B090-6434-F344951F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6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54BA7-9CB3-4E49-2A16-C4B15604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0AD8F-FC8B-374F-F3FD-991651B0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5932E-5864-346B-7C4F-7AF2D682A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CB581-0561-9F4A-A4BF-5500AE7B498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3130F-2E3F-C8F3-AAE1-F811A26B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A0966-B577-D9C9-B1F0-B3EC68B60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F09D3-1FF0-3D4C-A63C-AE01D3C6E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7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8BCE-5D28-BE00-B0CF-EDEE5DB84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SEMPY01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9C67D-EB7E-5D55-9679-435BB306F0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Recombination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34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8D7DD-F423-2352-72F3-D7A2475C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6CD10-F69C-82AD-7D59-6E5AB6AE4A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@ thermal equilibrium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Adding excess carriers to a semiconductor then we have non-equilibrium situation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Semiconductors exploit the creation of charge carriers in excess of thermal equilibrium values</a:t>
                </a:r>
              </a:p>
              <a:p>
                <a:pPr lvl="1"/>
                <a:r>
                  <a:rPr lang="en-US" dirty="0"/>
                  <a:t>Forward biasing (which will we cover n-p junctions)</a:t>
                </a:r>
              </a:p>
              <a:p>
                <a:pPr lvl="1"/>
                <a:r>
                  <a:rPr lang="en-US" dirty="0"/>
                  <a:t>Optical excitation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6CD10-F69C-82AD-7D59-6E5AB6AE4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99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66C-1988-FA9F-D5D9-403453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E29AFE-74F4-7B9D-4E9C-A9026C05C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thermal equilibrium is disturbed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Process that restores thermal </a:t>
                </a:r>
                <a:r>
                  <a:rPr lang="en-US" dirty="0" err="1"/>
                  <a:t>equilrbium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Injection of carriers the thing restores equilibrium is the recombination of this excess minority injectors with the majority carriers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E29AFE-74F4-7B9D-4E9C-A9026C05C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269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398E-7D56-B1B6-AC95-63216945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Recombination (n-type)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79437-5BEC-1150-E451-932F4F707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47" y="2035365"/>
            <a:ext cx="5571818" cy="35501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E248D1-88C7-34B2-499A-F48B2E16DFF1}"/>
                  </a:ext>
                </a:extLst>
              </p:cNvPr>
              <p:cNvSpPr txBox="1"/>
              <p:nvPr/>
            </p:nvSpPr>
            <p:spPr>
              <a:xfrm>
                <a:off x="7961660" y="2035365"/>
                <a:ext cx="2707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E248D1-88C7-34B2-499A-F48B2E16D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660" y="2035365"/>
                <a:ext cx="2707793" cy="276999"/>
              </a:xfrm>
              <a:prstGeom prst="rect">
                <a:avLst/>
              </a:prstGeom>
              <a:blipFill>
                <a:blip r:embed="rId3"/>
                <a:stretch>
                  <a:fillRect l="-1395" r="-139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09B69-B12E-DB4B-0AB4-0501F6B9F708}"/>
                  </a:ext>
                </a:extLst>
              </p:cNvPr>
              <p:cNvSpPr txBox="1"/>
              <p:nvPr/>
            </p:nvSpPr>
            <p:spPr>
              <a:xfrm>
                <a:off x="7853680" y="2792660"/>
                <a:ext cx="905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09B69-B12E-DB4B-0AB4-0501F6B9F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680" y="2792660"/>
                <a:ext cx="905633" cy="276999"/>
              </a:xfrm>
              <a:prstGeom prst="rect">
                <a:avLst/>
              </a:prstGeom>
              <a:blipFill>
                <a:blip r:embed="rId4"/>
                <a:stretch>
                  <a:fillRect l="-5556" r="-833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C00643-5FEF-5941-71E9-36ED61E7DBF2}"/>
                  </a:ext>
                </a:extLst>
              </p:cNvPr>
              <p:cNvSpPr txBox="1"/>
              <p:nvPr/>
            </p:nvSpPr>
            <p:spPr>
              <a:xfrm>
                <a:off x="7731760" y="3393440"/>
                <a:ext cx="350121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a proportionality constant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 err="1"/>
                  <a:t>lectron</a:t>
                </a:r>
                <a:r>
                  <a:rPr lang="en-US" dirty="0"/>
                  <a:t> concentration </a:t>
                </a:r>
                <a:r>
                  <a:rPr lang="en-US" dirty="0" err="1"/>
                  <a:t>E_c</a:t>
                </a:r>
                <a:endParaRPr lang="en-US" dirty="0"/>
              </a:p>
              <a:p>
                <a:r>
                  <a:rPr lang="en-US" dirty="0"/>
                  <a:t>p is the hole concentration </a:t>
                </a:r>
                <a:r>
                  <a:rPr lang="en-US" dirty="0" err="1"/>
                  <a:t>E_v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C00643-5FEF-5941-71E9-36ED61E7D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760" y="3393440"/>
                <a:ext cx="3501215" cy="923330"/>
              </a:xfrm>
              <a:prstGeom prst="rect">
                <a:avLst/>
              </a:prstGeom>
              <a:blipFill>
                <a:blip r:embed="rId5"/>
                <a:stretch>
                  <a:fillRect l="-1444" t="-4110" r="-722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886BCA-EC8D-5C87-A845-A7E3ECAF443D}"/>
                  </a:ext>
                </a:extLst>
              </p:cNvPr>
              <p:cNvSpPr txBox="1"/>
              <p:nvPr/>
            </p:nvSpPr>
            <p:spPr>
              <a:xfrm>
                <a:off x="7680960" y="4876800"/>
                <a:ext cx="32159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Thermal Equilibrium Condition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886BCA-EC8D-5C87-A845-A7E3ECAF4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4876800"/>
                <a:ext cx="3215945" cy="646331"/>
              </a:xfrm>
              <a:prstGeom prst="rect">
                <a:avLst/>
              </a:prstGeom>
              <a:blipFill>
                <a:blip r:embed="rId6"/>
                <a:stretch>
                  <a:fillRect l="-1569" t="-3922" r="-39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55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4345AE-8CFA-81D9-FC8D-2236A46E8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97" y="1400827"/>
            <a:ext cx="4301349" cy="2827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4F544F-5CBC-B894-38A0-04836F44D20A}"/>
                  </a:ext>
                </a:extLst>
              </p:cNvPr>
              <p:cNvSpPr txBox="1"/>
              <p:nvPr/>
            </p:nvSpPr>
            <p:spPr>
              <a:xfrm>
                <a:off x="6791776" y="2494911"/>
                <a:ext cx="1512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4F544F-5CBC-B894-38A0-04836F44D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776" y="2494911"/>
                <a:ext cx="151227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C8A1F-257D-5EDE-ACFF-DA1A99828105}"/>
                  </a:ext>
                </a:extLst>
              </p:cNvPr>
              <p:cNvSpPr txBox="1"/>
              <p:nvPr/>
            </p:nvSpPr>
            <p:spPr>
              <a:xfrm>
                <a:off x="6593840" y="764669"/>
                <a:ext cx="13550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C8A1F-257D-5EDE-ACFF-DA1A99828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40" y="764669"/>
                <a:ext cx="1355051" cy="276999"/>
              </a:xfrm>
              <a:prstGeom prst="rect">
                <a:avLst/>
              </a:prstGeom>
              <a:blipFill>
                <a:blip r:embed="rId4"/>
                <a:stretch>
                  <a:fillRect l="-3738" r="-93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098AB0-A73A-7FFE-BFFF-9AA91180EF15}"/>
                  </a:ext>
                </a:extLst>
              </p:cNvPr>
              <p:cNvSpPr txBox="1"/>
              <p:nvPr/>
            </p:nvSpPr>
            <p:spPr>
              <a:xfrm>
                <a:off x="6461760" y="1216161"/>
                <a:ext cx="244637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This causes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098AB0-A73A-7FFE-BFFF-9AA91180E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60" y="1216161"/>
                <a:ext cx="2446375" cy="923330"/>
              </a:xfrm>
              <a:prstGeom prst="rect">
                <a:avLst/>
              </a:prstGeom>
              <a:blipFill>
                <a:blip r:embed="rId5"/>
                <a:stretch>
                  <a:fillRect l="-2062" t="-4110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6404D8B-0903-6E82-7C0A-C61BDEB50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035" y="3067262"/>
            <a:ext cx="4649520" cy="549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B49A34-8A39-56F3-E90D-C6082C2E2F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526" y="3677714"/>
            <a:ext cx="2038732" cy="386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23826E-43A3-E050-E29C-18813D3B3D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8493" y="4213326"/>
            <a:ext cx="4056003" cy="386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5DB3A8-7D22-B245-8F0C-BE54DBC74D33}"/>
              </a:ext>
            </a:extLst>
          </p:cNvPr>
          <p:cNvSpPr txBox="1"/>
          <p:nvPr/>
        </p:nvSpPr>
        <p:spPr>
          <a:xfrm>
            <a:off x="1290320" y="5090160"/>
            <a:ext cx="664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steady state, the net generation rate = the net combination rate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9616F8-F28D-A651-242A-1CC0A8BE2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0" y="3257550"/>
            <a:ext cx="2667000" cy="342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EF48D9-EA4B-23FD-7E14-FA5E39CD64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7871" y="5546825"/>
            <a:ext cx="4250594" cy="5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15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172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SEMPY01</vt:lpstr>
      <vt:lpstr>Thermal Equilibrium</vt:lpstr>
      <vt:lpstr>PowerPoint Presentation</vt:lpstr>
      <vt:lpstr>Direct Recombination (n-type)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2</cp:revision>
  <dcterms:created xsi:type="dcterms:W3CDTF">2025-10-24T05:36:34Z</dcterms:created>
  <dcterms:modified xsi:type="dcterms:W3CDTF">2025-12-20T15:32:05Z</dcterms:modified>
</cp:coreProperties>
</file>